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9FC7888-AA09-4E13-9951-130682FFCE90}">
  <a:tblStyle styleId="{99FC7888-AA09-4E13-9951-130682FFCE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22885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2913063" y="0"/>
            <a:ext cx="222885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2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2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4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4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4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5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5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6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6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7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7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7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8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8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8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9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9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9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0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0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0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p11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1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2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12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2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3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3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3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4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2" name="Google Shape;442;p14:notes"/>
          <p:cNvSpPr txBox="1"/>
          <p:nvPr>
            <p:ph idx="1" type="body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4:notes"/>
          <p:cNvSpPr txBox="1"/>
          <p:nvPr>
            <p:ph idx="12" type="sldNum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ctrTitle"/>
          </p:nvPr>
        </p:nvSpPr>
        <p:spPr>
          <a:xfrm>
            <a:off x="231292" y="559081"/>
            <a:ext cx="6099170" cy="266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Font typeface="Arial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237982" y="3501987"/>
            <a:ext cx="6099170" cy="10128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sz="3556"/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sz="3556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231291" y="465151"/>
            <a:ext cx="7467560" cy="10790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51601" y="1730086"/>
            <a:ext cx="7467560" cy="29026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2pPr>
            <a:lvl3pPr indent="-3429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4pPr>
            <a:lvl5pPr indent="-3429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255104" y="1682782"/>
            <a:ext cx="6867216" cy="283206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733"/>
              <a:buFont typeface="Arial"/>
              <a:buNone/>
              <a:defRPr sz="1173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255103" y="628651"/>
            <a:ext cx="6867217" cy="10541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sz="3556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sz="3556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227398" y="562970"/>
            <a:ext cx="8134917" cy="978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" type="body"/>
          </p:nvPr>
        </p:nvSpPr>
        <p:spPr>
          <a:xfrm>
            <a:off x="792721" y="1556438"/>
            <a:ext cx="3428466" cy="3076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54406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1pPr>
            <a:lvl2pPr indent="-4318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Char char="+"/>
              <a:defRPr sz="3200"/>
            </a:lvl2pPr>
            <a:lvl3pPr indent="-409194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Char char="•"/>
              <a:defRPr sz="2844"/>
            </a:lvl3pPr>
            <a:lvl4pPr indent="-38665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89"/>
              <a:buChar char="+"/>
              <a:defRPr sz="2489"/>
            </a:lvl4pPr>
            <a:lvl5pPr indent="-38665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89"/>
              <a:buChar char="•"/>
              <a:defRPr sz="2489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2" type="body"/>
          </p:nvPr>
        </p:nvSpPr>
        <p:spPr>
          <a:xfrm>
            <a:off x="4784671" y="1556438"/>
            <a:ext cx="3577643" cy="3076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54406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1pPr>
            <a:lvl2pPr indent="-4318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Char char="+"/>
              <a:defRPr sz="3200"/>
            </a:lvl2pPr>
            <a:lvl3pPr indent="-409194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Char char="•"/>
              <a:defRPr sz="2844"/>
            </a:lvl3pPr>
            <a:lvl4pPr indent="-38665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89"/>
              <a:buChar char="+"/>
              <a:defRPr sz="2489"/>
            </a:lvl4pPr>
            <a:lvl5pPr indent="-38665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89"/>
              <a:buChar char="•"/>
              <a:defRPr sz="2489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229237" y="557852"/>
            <a:ext cx="8073203" cy="7690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body"/>
          </p:nvPr>
        </p:nvSpPr>
        <p:spPr>
          <a:xfrm>
            <a:off x="792721" y="1326874"/>
            <a:ext cx="3428465" cy="6112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b="0" sz="3556" cap="none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b="1" sz="3556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9pPr>
          </a:lstStyle>
          <a:p/>
        </p:txBody>
      </p:sp>
      <p:sp>
        <p:nvSpPr>
          <p:cNvPr id="44" name="Google Shape;44;p7"/>
          <p:cNvSpPr txBox="1"/>
          <p:nvPr>
            <p:ph idx="2" type="body"/>
          </p:nvPr>
        </p:nvSpPr>
        <p:spPr>
          <a:xfrm>
            <a:off x="792721" y="2008948"/>
            <a:ext cx="3428465" cy="26300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2pPr>
            <a:lvl3pPr indent="-3429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4pPr>
            <a:lvl5pPr indent="-3429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3" type="body"/>
          </p:nvPr>
        </p:nvSpPr>
        <p:spPr>
          <a:xfrm>
            <a:off x="4873975" y="1326874"/>
            <a:ext cx="3428465" cy="6112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b="0" sz="3556" cap="none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None/>
              <a:defRPr b="1" sz="3556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b="1" sz="2844"/>
            </a:lvl9pPr>
          </a:lstStyle>
          <a:p/>
        </p:txBody>
      </p:sp>
      <p:sp>
        <p:nvSpPr>
          <p:cNvPr id="46" name="Google Shape;46;p7"/>
          <p:cNvSpPr txBox="1"/>
          <p:nvPr>
            <p:ph idx="4" type="body"/>
          </p:nvPr>
        </p:nvSpPr>
        <p:spPr>
          <a:xfrm>
            <a:off x="4873975" y="2008947"/>
            <a:ext cx="3428465" cy="2630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2pPr>
            <a:lvl3pPr indent="-3429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4pPr>
            <a:lvl5pPr indent="-3429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231291" y="568324"/>
            <a:ext cx="5430220" cy="26606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/>
          <p:nvPr>
            <p:ph type="title"/>
          </p:nvPr>
        </p:nvSpPr>
        <p:spPr>
          <a:xfrm>
            <a:off x="238047" y="574977"/>
            <a:ext cx="2963809" cy="1132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89"/>
              <a:buFont typeface="Arial"/>
              <a:buNone/>
              <a:defRPr sz="568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0"/>
          <p:cNvSpPr txBox="1"/>
          <p:nvPr>
            <p:ph idx="1" type="body"/>
          </p:nvPr>
        </p:nvSpPr>
        <p:spPr>
          <a:xfrm>
            <a:off x="3829050" y="526840"/>
            <a:ext cx="4687491" cy="3988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89852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5689"/>
              <a:buChar char="•"/>
              <a:defRPr sz="5689"/>
            </a:lvl1pPr>
            <a:lvl2pPr indent="-544703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978"/>
              <a:buChar char="+"/>
              <a:defRPr sz="4978"/>
            </a:lvl2pPr>
            <a:lvl3pPr indent="-49955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267"/>
              <a:buChar char="•"/>
              <a:defRPr sz="4267"/>
            </a:lvl3pPr>
            <a:lvl4pPr indent="-45440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Char char="+"/>
              <a:defRPr sz="3556"/>
            </a:lvl4pPr>
            <a:lvl5pPr indent="-45440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5pPr>
            <a:lvl6pPr indent="-454406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6pPr>
            <a:lvl7pPr indent="-454406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7pPr>
            <a:lvl8pPr indent="-454406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8pPr>
            <a:lvl9pPr indent="-454406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3556"/>
              <a:buChar char="•"/>
              <a:defRPr sz="3556"/>
            </a:lvl9pPr>
          </a:lstStyle>
          <a:p/>
        </p:txBody>
      </p:sp>
      <p:sp>
        <p:nvSpPr>
          <p:cNvPr id="62" name="Google Shape;62;p10"/>
          <p:cNvSpPr txBox="1"/>
          <p:nvPr>
            <p:ph idx="2" type="body"/>
          </p:nvPr>
        </p:nvSpPr>
        <p:spPr>
          <a:xfrm>
            <a:off x="242965" y="1707948"/>
            <a:ext cx="2814560" cy="28069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89"/>
              <a:buNone/>
              <a:defRPr sz="2489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None/>
              <a:defRPr sz="2133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9pPr>
          </a:lstStyle>
          <a:p/>
        </p:txBody>
      </p:sp>
      <p:sp>
        <p:nvSpPr>
          <p:cNvPr id="63" name="Google Shape;63;p10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0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>
            <p:ph type="title"/>
          </p:nvPr>
        </p:nvSpPr>
        <p:spPr>
          <a:xfrm>
            <a:off x="239229" y="574387"/>
            <a:ext cx="2996770" cy="13310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89"/>
              <a:buFont typeface="Arial"/>
              <a:buNone/>
              <a:defRPr sz="568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1"/>
          <p:cNvSpPr/>
          <p:nvPr>
            <p:ph idx="2" type="pic"/>
          </p:nvPr>
        </p:nvSpPr>
        <p:spPr>
          <a:xfrm>
            <a:off x="3829050" y="628651"/>
            <a:ext cx="4687491" cy="3886199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1"/>
          <p:cNvSpPr txBox="1"/>
          <p:nvPr>
            <p:ph idx="1" type="body"/>
          </p:nvPr>
        </p:nvSpPr>
        <p:spPr>
          <a:xfrm>
            <a:off x="255103" y="1914525"/>
            <a:ext cx="2802422" cy="26003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44"/>
              <a:buNone/>
              <a:defRPr sz="2844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89"/>
              <a:buNone/>
              <a:defRPr sz="2489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None/>
              <a:defRPr sz="2133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78"/>
              <a:buNone/>
              <a:defRPr sz="1778"/>
            </a:lvl9pPr>
          </a:lstStyle>
          <a:p/>
        </p:txBody>
      </p:sp>
      <p:sp>
        <p:nvSpPr>
          <p:cNvPr id="70" name="Google Shape;70;p11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/>
          <p:nvPr>
            <p:ph type="title"/>
          </p:nvPr>
        </p:nvSpPr>
        <p:spPr>
          <a:xfrm>
            <a:off x="231291" y="568088"/>
            <a:ext cx="8156965" cy="910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" type="body"/>
          </p:nvPr>
        </p:nvSpPr>
        <p:spPr>
          <a:xfrm rot="5400000">
            <a:off x="2802041" y="-1071364"/>
            <a:ext cx="3035774" cy="81366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2pPr>
            <a:lvl3pPr indent="-3429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4pPr>
            <a:lvl5pPr indent="-3429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title"/>
          </p:nvPr>
        </p:nvSpPr>
        <p:spPr>
          <a:xfrm rot="5400000">
            <a:off x="5871816" y="1714793"/>
            <a:ext cx="4003777" cy="170816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" type="body"/>
          </p:nvPr>
        </p:nvSpPr>
        <p:spPr>
          <a:xfrm rot="5400000">
            <a:off x="1713043" y="-517408"/>
            <a:ext cx="4003777" cy="61725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2pPr>
            <a:lvl3pPr indent="-3429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+"/>
              <a:defRPr/>
            </a:lvl4pPr>
            <a:lvl5pPr indent="-3429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31291" y="465151"/>
            <a:ext cx="7467560" cy="10790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b="1" i="0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251601" y="1730086"/>
            <a:ext cx="7467560" cy="29026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200" lvl="1" marL="914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+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+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255103" y="47402"/>
            <a:ext cx="2057400" cy="2386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5508012" y="4818571"/>
            <a:ext cx="304495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552963" y="4819362"/>
            <a:ext cx="32232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422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96">
          <p15:clr>
            <a:srgbClr val="F26B43"/>
          </p15:clr>
        </p15:guide>
        <p15:guide id="2" orient="horz" pos="1620">
          <p15:clr>
            <a:srgbClr val="F26B43"/>
          </p15:clr>
        </p15:guide>
        <p15:guide id="3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4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1B9AAA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4"/>
          <p:cNvSpPr/>
          <p:nvPr/>
        </p:nvSpPr>
        <p:spPr>
          <a:xfrm>
            <a:off x="6858000" y="2286000"/>
            <a:ext cx="2743200" cy="2743200"/>
          </a:xfrm>
          <a:prstGeom prst="ellipse">
            <a:avLst/>
          </a:prstGeom>
          <a:solidFill>
            <a:srgbClr val="1B9AAA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50292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/>
          <p:nvPr/>
        </p:nvSpPr>
        <p:spPr>
          <a:xfrm>
            <a:off x="274320" y="137160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SmartGate</a:t>
            </a:r>
            <a:endParaRPr b="0" i="0" sz="5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274320" y="251460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B9AAA"/>
                </a:solidFill>
                <a:latin typeface="Calibri"/>
                <a:ea typeface="Calibri"/>
                <a:cs typeface="Calibri"/>
                <a:sym typeface="Calibri"/>
              </a:rPr>
              <a:t>IoT Smart Intercom System</a:t>
            </a:r>
            <a:endParaRPr b="0" i="0" sz="2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274320" y="3154680"/>
            <a:ext cx="3657600" cy="36576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274320" y="3383280"/>
            <a:ext cx="1965960" cy="384048"/>
          </a:xfrm>
          <a:prstGeom prst="roundRect">
            <a:avLst>
              <a:gd fmla="val 19048" name="adj"/>
            </a:avLst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4"/>
          <p:cNvSpPr/>
          <p:nvPr/>
        </p:nvSpPr>
        <p:spPr>
          <a:xfrm>
            <a:off x="274320" y="3383280"/>
            <a:ext cx="1965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Raspberry Pi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2423160" y="3383280"/>
            <a:ext cx="1965960" cy="384048"/>
          </a:xfrm>
          <a:prstGeom prst="roundRect">
            <a:avLst>
              <a:gd fmla="val 19048" name="adj"/>
            </a:avLst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2423160" y="3383280"/>
            <a:ext cx="1965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MQTT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4572000" y="3383280"/>
            <a:ext cx="1965960" cy="384048"/>
          </a:xfrm>
          <a:prstGeom prst="roundRect">
            <a:avLst>
              <a:gd fmla="val 19048" name="adj"/>
            </a:avLst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4572000" y="3383280"/>
            <a:ext cx="1965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Spring Boot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6720840" y="3383280"/>
            <a:ext cx="1965960" cy="384048"/>
          </a:xfrm>
          <a:prstGeom prst="roundRect">
            <a:avLst>
              <a:gd fmla="val 19048" name="adj"/>
            </a:avLst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6720840" y="3383280"/>
            <a:ext cx="1965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Angular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27432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Odbrana završnog projekta  |  2026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8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Motivacija i Problem</a:t>
            </a:r>
            <a:endParaRPr b="0" i="0" sz="2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320040" y="1005840"/>
            <a:ext cx="39319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5"/>
          <p:cNvSpPr/>
          <p:nvPr/>
        </p:nvSpPr>
        <p:spPr>
          <a:xfrm>
            <a:off x="320040" y="1005840"/>
            <a:ext cx="39319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5"/>
          <p:cNvSpPr/>
          <p:nvPr/>
        </p:nvSpPr>
        <p:spPr>
          <a:xfrm>
            <a:off x="411480" y="10972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❌  Klasični Interfon</a:t>
            </a:r>
            <a:endParaRPr b="0" i="0" sz="15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457200" y="1600200"/>
            <a:ext cx="365760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Fizičko prisustvo je neophodno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Nema prikaza ko stoji na vratima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Nema evidencije posetilaca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Nije moguće upravljati s mobilnog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Nije skalabilno za velike zgrade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4892040" y="1005840"/>
            <a:ext cx="39319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4892040" y="1005840"/>
            <a:ext cx="393192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4983480" y="10972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SmartGate</a:t>
            </a:r>
            <a:endParaRPr b="0" i="0" sz="15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5"/>
          <p:cNvSpPr/>
          <p:nvPr/>
        </p:nvSpPr>
        <p:spPr>
          <a:xfrm>
            <a:off x="5029200" y="1600200"/>
            <a:ext cx="365760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Upravljanje s bilo kog uređaja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Real-time slika posetioca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Beleži svaki pokušaj pristupa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Angular web aplikacija – dashboard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Podrška za više stanova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6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77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Vrednosna ponuda i ključne karakteristike sistema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228600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228600" y="960120"/>
            <a:ext cx="201168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6"/>
          <p:cNvSpPr/>
          <p:nvPr/>
        </p:nvSpPr>
        <p:spPr>
          <a:xfrm>
            <a:off x="228600" y="1113144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Vrednosna ponuda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352539" y="1637273"/>
            <a:ext cx="1763801" cy="13636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Povećana bezbednost (slika posetioca pre ulaska)</a:t>
            </a:r>
            <a:endParaRPr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Daljinsko otvaranje kapije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Kontrola pristupa u realnom vremenu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Veći komfor za korisnike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2441448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2441448" y="960120"/>
            <a:ext cx="20116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2462105" y="1113144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Ključne prednosti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2462104" y="1513333"/>
            <a:ext cx="2011680" cy="1618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Jednostavno korišćenje (mobilni/web pristup)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Skalabilnost (više stanova i ulaza)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Modularnost sistema (lako proširenje)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Niži troškovi (jeftin hardver + open-source)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4654296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4654296" y="960120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6"/>
          <p:cNvSpPr/>
          <p:nvPr/>
        </p:nvSpPr>
        <p:spPr>
          <a:xfrm>
            <a:off x="4674953" y="1113144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Tehnološke mogućnosti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4654296" y="1568417"/>
            <a:ext cx="2011680" cy="1556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Real-time komunikacija (MQTT, WebSocket)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Integracija sa drugim sistemima (kamere, alarmi)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Cloud i lokalno skladištenje podataka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Spremno za AI funkcionalnosti (face recognition)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6851445" y="2280767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▶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6867144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6"/>
          <p:cNvSpPr/>
          <p:nvPr/>
        </p:nvSpPr>
        <p:spPr>
          <a:xfrm>
            <a:off x="6867144" y="960120"/>
            <a:ext cx="201168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6846487" y="1113144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Ciljni korisnici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6874029" y="1568416"/>
            <a:ext cx="2004795" cy="150132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Stambene zgrade i upravnici</a:t>
            </a:r>
            <a:endParaRPr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Poslovni objekti i kancelarije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Privatne kuće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Co-working prostori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t/>
            </a:r>
            <a:endParaRPr sz="95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228600" y="312724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</a:pPr>
            <a:r>
              <a:t/>
            </a:r>
            <a:endParaRPr sz="9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2441448" y="312724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</a:pPr>
            <a:r>
              <a:t/>
            </a:r>
            <a:endParaRPr sz="9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3672253" y="3815802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</a:pPr>
            <a:r>
              <a:t/>
            </a:r>
            <a:endParaRPr sz="900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250637" y="3527877"/>
            <a:ext cx="8642729" cy="1421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SmartGate predstavlja moderno IoT rešenje koje unapređuje kontrolu pristupa kroz kombinaciju bezbednosti, jednostavnosti i fleksibilnosti. Sistem omogućava korisnicima veću kontrolu i pregled nad ulazima, uz niže troškove i mogućnost daljeg razvoja i integracije. Na taj način, SmartGate se pozicionira kao efikasna i skalabilna alternativa tradicionalnim interfon sistemima.</a:t>
            </a:r>
            <a:endParaRPr i="1" sz="180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8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7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7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SmartGate – Business Model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274320" y="987662"/>
            <a:ext cx="3514380" cy="166409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274320" y="932578"/>
            <a:ext cx="351438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384048" y="110642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7"/>
          <p:cNvSpPr/>
          <p:nvPr/>
        </p:nvSpPr>
        <p:spPr>
          <a:xfrm>
            <a:off x="384048" y="110642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896332" y="1099539"/>
            <a:ext cx="275531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Infrastruktura (Kako radimo)</a:t>
            </a:r>
            <a:endParaRPr b="1"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384048" y="158191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Partneri: hardver, instalateri, IoT zajednica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Aktivnosti: razvoj, instalacija, održavanje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Resursi: softver, tim, hardver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79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79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3714006" y="120282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1"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3328416" y="158191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5254165" y="987662"/>
            <a:ext cx="3652091" cy="166409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7"/>
          <p:cNvSpPr/>
          <p:nvPr/>
        </p:nvSpPr>
        <p:spPr>
          <a:xfrm>
            <a:off x="5254165" y="932578"/>
            <a:ext cx="3652091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5412091" y="110642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7"/>
          <p:cNvSpPr/>
          <p:nvPr/>
        </p:nvSpPr>
        <p:spPr>
          <a:xfrm>
            <a:off x="5412091" y="109953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b="1" lang="en-US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5965688" y="1099538"/>
            <a:ext cx="24385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Vrednost (Šta nudimo)</a:t>
            </a:r>
            <a:endParaRPr b="1"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5549802" y="158191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Sigurna kontrola pristupa (slika + verifikacija)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Daljinsko otvaranje kapije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Skalabilno i jednostavno rešenje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Niži troškovi (open-source + jeftin hardver)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384048" y="30266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1"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841248" y="302666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1" sz="14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384048" y="350215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271676" y="3031843"/>
            <a:ext cx="3507495" cy="171229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7"/>
          <p:cNvSpPr/>
          <p:nvPr/>
        </p:nvSpPr>
        <p:spPr>
          <a:xfrm>
            <a:off x="271676" y="2969872"/>
            <a:ext cx="3507495" cy="61750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7"/>
          <p:cNvSpPr/>
          <p:nvPr/>
        </p:nvSpPr>
        <p:spPr>
          <a:xfrm>
            <a:off x="367633" y="3123062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381404" y="312306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b="1" lang="en-US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1"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893689" y="3123062"/>
            <a:ext cx="282417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Kupci i tržište (Kome prodajemo)</a:t>
            </a:r>
            <a:endParaRPr b="1"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753223" y="350215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Stambene zgrade i upravnici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Firme i kancelarije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Privatne kuće 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Co-working prostori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5254164" y="3024957"/>
            <a:ext cx="3624549" cy="171918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5254164" y="2969872"/>
            <a:ext cx="3624549" cy="61750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5357007" y="3123062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5357007" y="312306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b="1" lang="en-US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1"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5965689" y="3123062"/>
            <a:ext cx="2500553" cy="418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Finansije (Kako zarađujemo)</a:t>
            </a:r>
            <a:endParaRPr b="1"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5852766" y="3715604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Prodaja uređaja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SaaS pretplata (cloud, istorija, video)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Premium funkcije (AI, napredne opcije)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Enterprise licence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Troškovi: hardver, razvoj, hosting, podrška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8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77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Arhitektura Sistema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228600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8"/>
          <p:cNvSpPr/>
          <p:nvPr/>
        </p:nvSpPr>
        <p:spPr>
          <a:xfrm>
            <a:off x="228600" y="960120"/>
            <a:ext cx="201168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4" name="Google Shape;19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109728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8"/>
          <p:cNvSpPr/>
          <p:nvPr/>
        </p:nvSpPr>
        <p:spPr>
          <a:xfrm>
            <a:off x="228600" y="1719072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IoT Sloj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228600" y="208483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Raspberry Pi + Python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2258568" y="1965960"/>
            <a:ext cx="164592" cy="36576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2350008" y="1874520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▶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441448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2441448" y="960120"/>
            <a:ext cx="20116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1" name="Google Shape;20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2968" y="109728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8"/>
          <p:cNvSpPr/>
          <p:nvPr/>
        </p:nvSpPr>
        <p:spPr>
          <a:xfrm>
            <a:off x="2441448" y="1719072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MQTT Broker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2441448" y="208483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Mosquitto  |  port 1883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4471416" y="1965960"/>
            <a:ext cx="164592" cy="36576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8"/>
          <p:cNvSpPr/>
          <p:nvPr/>
        </p:nvSpPr>
        <p:spPr>
          <a:xfrm>
            <a:off x="4562856" y="1874520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▶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4654296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8"/>
          <p:cNvSpPr/>
          <p:nvPr/>
        </p:nvSpPr>
        <p:spPr>
          <a:xfrm>
            <a:off x="4654296" y="960120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8" name="Google Shape;20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85816" y="109728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8"/>
          <p:cNvSpPr/>
          <p:nvPr/>
        </p:nvSpPr>
        <p:spPr>
          <a:xfrm>
            <a:off x="4654296" y="1719072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4654296" y="208483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Spring Boot 4.0.5 / Java 26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8"/>
          <p:cNvSpPr/>
          <p:nvPr/>
        </p:nvSpPr>
        <p:spPr>
          <a:xfrm>
            <a:off x="6684264" y="1965960"/>
            <a:ext cx="164592" cy="36576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8"/>
          <p:cNvSpPr/>
          <p:nvPr/>
        </p:nvSpPr>
        <p:spPr>
          <a:xfrm>
            <a:off x="6775704" y="1874520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▶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6867144" y="960120"/>
            <a:ext cx="2011680" cy="210312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6867144" y="960120"/>
            <a:ext cx="201168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5" name="Google Shape;21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98664" y="109728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8"/>
          <p:cNvSpPr/>
          <p:nvPr/>
        </p:nvSpPr>
        <p:spPr>
          <a:xfrm>
            <a:off x="6867144" y="1719072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8"/>
          <p:cNvSpPr/>
          <p:nvPr/>
        </p:nvSpPr>
        <p:spPr>
          <a:xfrm>
            <a:off x="6867144" y="2084832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Angular SSR + STOMP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8"/>
          <p:cNvSpPr/>
          <p:nvPr/>
        </p:nvSpPr>
        <p:spPr>
          <a:xfrm>
            <a:off x="228600" y="312724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Kamera + GPIO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MQTT publish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HTTP upload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8"/>
          <p:cNvSpPr/>
          <p:nvPr/>
        </p:nvSpPr>
        <p:spPr>
          <a:xfrm>
            <a:off x="2441448" y="312724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Event routing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QoS poruke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Broker medijacija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8"/>
          <p:cNvSpPr/>
          <p:nvPr/>
        </p:nvSpPr>
        <p:spPr>
          <a:xfrm>
            <a:off x="4654296" y="312724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MQTT subscriber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WebSocket bridge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REST API / JPA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8"/>
          <p:cNvSpPr/>
          <p:nvPr/>
        </p:nvSpPr>
        <p:spPr>
          <a:xfrm>
            <a:off x="6867144" y="3127248"/>
            <a:ext cx="2011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STOMP klijent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Real-time prikaz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Open / Reject UI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8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Svi slojevi komuniciraju asinhrono – nema blokiranja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8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9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9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Tok Podataka – Kako Sistem Funkcioniše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9"/>
          <p:cNvSpPr/>
          <p:nvPr/>
        </p:nvSpPr>
        <p:spPr>
          <a:xfrm>
            <a:off x="274320" y="960120"/>
            <a:ext cx="274320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9"/>
          <p:cNvSpPr/>
          <p:nvPr/>
        </p:nvSpPr>
        <p:spPr>
          <a:xfrm>
            <a:off x="274320" y="960120"/>
            <a:ext cx="274320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"/>
          <p:cNvSpPr/>
          <p:nvPr/>
        </p:nvSpPr>
        <p:spPr>
          <a:xfrm>
            <a:off x="384048" y="110642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9"/>
          <p:cNvSpPr/>
          <p:nvPr/>
        </p:nvSpPr>
        <p:spPr>
          <a:xfrm>
            <a:off x="384048" y="110642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841248" y="110642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Dugme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384048" y="158191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Posetilac pritiska dugme za stan – GPIO signal na Raspberry Pi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3218688" y="960120"/>
            <a:ext cx="274320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9"/>
          <p:cNvSpPr/>
          <p:nvPr/>
        </p:nvSpPr>
        <p:spPr>
          <a:xfrm>
            <a:off x="3218688" y="960120"/>
            <a:ext cx="274320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9"/>
          <p:cNvSpPr/>
          <p:nvPr/>
        </p:nvSpPr>
        <p:spPr>
          <a:xfrm>
            <a:off x="3328416" y="110642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9"/>
          <p:cNvSpPr/>
          <p:nvPr/>
        </p:nvSpPr>
        <p:spPr>
          <a:xfrm>
            <a:off x="3328416" y="110642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3785616" y="110642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Kamera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/>
          <p:nvPr/>
        </p:nvSpPr>
        <p:spPr>
          <a:xfrm>
            <a:off x="3328416" y="158191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OpenCV snima fotografiju i čuva je lokalno (images/)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6163056" y="960120"/>
            <a:ext cx="274320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9"/>
          <p:cNvSpPr/>
          <p:nvPr/>
        </p:nvSpPr>
        <p:spPr>
          <a:xfrm>
            <a:off x="6163056" y="960120"/>
            <a:ext cx="274320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9"/>
          <p:cNvSpPr/>
          <p:nvPr/>
        </p:nvSpPr>
        <p:spPr>
          <a:xfrm>
            <a:off x="6272784" y="110642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9"/>
          <p:cNvSpPr/>
          <p:nvPr/>
        </p:nvSpPr>
        <p:spPr>
          <a:xfrm>
            <a:off x="6272784" y="110642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6729984" y="110642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Upload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6272784" y="158191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HTTP POST slike na Spring Boot /api/upload → prima URL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9"/>
          <p:cNvSpPr/>
          <p:nvPr/>
        </p:nvSpPr>
        <p:spPr>
          <a:xfrm>
            <a:off x="274320" y="2880360"/>
            <a:ext cx="274320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9"/>
          <p:cNvSpPr/>
          <p:nvPr/>
        </p:nvSpPr>
        <p:spPr>
          <a:xfrm>
            <a:off x="274320" y="2880360"/>
            <a:ext cx="274320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9"/>
          <p:cNvSpPr/>
          <p:nvPr/>
        </p:nvSpPr>
        <p:spPr>
          <a:xfrm>
            <a:off x="384048" y="302666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9"/>
          <p:cNvSpPr/>
          <p:nvPr/>
        </p:nvSpPr>
        <p:spPr>
          <a:xfrm>
            <a:off x="384048" y="30266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9"/>
          <p:cNvSpPr/>
          <p:nvPr/>
        </p:nvSpPr>
        <p:spPr>
          <a:xfrm>
            <a:off x="841248" y="302666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MQTT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84048" y="350215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RPi publish JSON na "interfon/pozivi" sa stan + URL + timestamp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9"/>
          <p:cNvSpPr/>
          <p:nvPr/>
        </p:nvSpPr>
        <p:spPr>
          <a:xfrm>
            <a:off x="3218688" y="2880360"/>
            <a:ext cx="274320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9"/>
          <p:cNvSpPr/>
          <p:nvPr/>
        </p:nvSpPr>
        <p:spPr>
          <a:xfrm>
            <a:off x="3218688" y="2880360"/>
            <a:ext cx="274320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9"/>
          <p:cNvSpPr/>
          <p:nvPr/>
        </p:nvSpPr>
        <p:spPr>
          <a:xfrm>
            <a:off x="3328416" y="302666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9"/>
          <p:cNvSpPr/>
          <p:nvPr/>
        </p:nvSpPr>
        <p:spPr>
          <a:xfrm>
            <a:off x="3328416" y="30266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/>
          <p:nvPr/>
        </p:nvSpPr>
        <p:spPr>
          <a:xfrm>
            <a:off x="3785616" y="302666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WebSocket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9"/>
          <p:cNvSpPr/>
          <p:nvPr/>
        </p:nvSpPr>
        <p:spPr>
          <a:xfrm>
            <a:off x="3328416" y="350215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Backend prosleđuje event Angular klijentu via STOMP /topic/intercom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9"/>
          <p:cNvSpPr/>
          <p:nvPr/>
        </p:nvSpPr>
        <p:spPr>
          <a:xfrm>
            <a:off x="6163056" y="2880360"/>
            <a:ext cx="274320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9"/>
          <p:cNvSpPr/>
          <p:nvPr/>
        </p:nvSpPr>
        <p:spPr>
          <a:xfrm>
            <a:off x="6163056" y="2880360"/>
            <a:ext cx="2743200" cy="54864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9"/>
          <p:cNvSpPr/>
          <p:nvPr/>
        </p:nvSpPr>
        <p:spPr>
          <a:xfrm>
            <a:off x="6272784" y="3026664"/>
            <a:ext cx="384048" cy="384048"/>
          </a:xfrm>
          <a:prstGeom prst="ellipse">
            <a:avLst/>
          </a:prstGeom>
          <a:solidFill>
            <a:srgbClr val="1B9A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9"/>
          <p:cNvSpPr/>
          <p:nvPr/>
        </p:nvSpPr>
        <p:spPr>
          <a:xfrm>
            <a:off x="6272784" y="30266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9"/>
          <p:cNvSpPr/>
          <p:nvPr/>
        </p:nvSpPr>
        <p:spPr>
          <a:xfrm>
            <a:off x="6729984" y="3026664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Akcija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9"/>
          <p:cNvSpPr/>
          <p:nvPr/>
        </p:nvSpPr>
        <p:spPr>
          <a:xfrm>
            <a:off x="6272784" y="3502152"/>
            <a:ext cx="2523744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Stanar klika Otvori → POST /api/open → MQTT komanda → relej 1s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77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0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IoT Sloj – Raspberry Pi (Python)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0"/>
          <p:cNvSpPr/>
          <p:nvPr/>
        </p:nvSpPr>
        <p:spPr>
          <a:xfrm>
            <a:off x="274320" y="960120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20"/>
          <p:cNvSpPr/>
          <p:nvPr/>
        </p:nvSpPr>
        <p:spPr>
          <a:xfrm>
            <a:off x="411480" y="102412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main.py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411480" y="1307592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Entry point; inicijalizuje sve servise i pokreće sistem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0"/>
          <p:cNvSpPr/>
          <p:nvPr/>
        </p:nvSpPr>
        <p:spPr>
          <a:xfrm>
            <a:off x="4800600" y="960120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0"/>
          <p:cNvSpPr/>
          <p:nvPr/>
        </p:nvSpPr>
        <p:spPr>
          <a:xfrm>
            <a:off x="4937760" y="102412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camera_service.py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0"/>
          <p:cNvSpPr/>
          <p:nvPr/>
        </p:nvSpPr>
        <p:spPr>
          <a:xfrm>
            <a:off x="4937760" y="1307592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OpenCV – snima JPEG sliku posetioca (cv2.VideoCapture)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274320" y="1947672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0"/>
          <p:cNvSpPr/>
          <p:nvPr/>
        </p:nvSpPr>
        <p:spPr>
          <a:xfrm>
            <a:off x="411480" y="20116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mqtt_client.py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0"/>
          <p:cNvSpPr/>
          <p:nvPr/>
        </p:nvSpPr>
        <p:spPr>
          <a:xfrm>
            <a:off x="411480" y="2295144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paho-mqtt MQTTv3.1.1; publish/subscribe; auto-reconnect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0"/>
          <p:cNvSpPr/>
          <p:nvPr/>
        </p:nvSpPr>
        <p:spPr>
          <a:xfrm>
            <a:off x="4800600" y="1947672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0"/>
          <p:cNvSpPr/>
          <p:nvPr/>
        </p:nvSpPr>
        <p:spPr>
          <a:xfrm>
            <a:off x="4937760" y="20116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intercom_service.py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0"/>
          <p:cNvSpPr/>
          <p:nvPr/>
        </p:nvSpPr>
        <p:spPr>
          <a:xfrm>
            <a:off x="4937760" y="2295144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Centralna logika; async thread po pozivu; orkestracija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0"/>
          <p:cNvSpPr/>
          <p:nvPr/>
        </p:nvSpPr>
        <p:spPr>
          <a:xfrm>
            <a:off x="274320" y="2935224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0"/>
          <p:cNvSpPr/>
          <p:nvPr/>
        </p:nvSpPr>
        <p:spPr>
          <a:xfrm>
            <a:off x="411480" y="299923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relay_controller.py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0"/>
          <p:cNvSpPr/>
          <p:nvPr/>
        </p:nvSpPr>
        <p:spPr>
          <a:xfrm>
            <a:off x="411480" y="3282696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gpiozero OutputDevice; 1s impuls za elektronsku bravu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0"/>
          <p:cNvSpPr/>
          <p:nvPr/>
        </p:nvSpPr>
        <p:spPr>
          <a:xfrm>
            <a:off x="4800600" y="2935224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0"/>
          <p:cNvSpPr/>
          <p:nvPr/>
        </p:nvSpPr>
        <p:spPr>
          <a:xfrm>
            <a:off x="4937760" y="299923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button_handler.py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0"/>
          <p:cNvSpPr/>
          <p:nvPr/>
        </p:nvSpPr>
        <p:spPr>
          <a:xfrm>
            <a:off x="4937760" y="3282696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GPIO pinovi po stanovima ili TEST_MODE konzolni unos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0"/>
          <p:cNvSpPr/>
          <p:nvPr/>
        </p:nvSpPr>
        <p:spPr>
          <a:xfrm>
            <a:off x="274320" y="3922776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20"/>
          <p:cNvSpPr/>
          <p:nvPr/>
        </p:nvSpPr>
        <p:spPr>
          <a:xfrm>
            <a:off x="411480" y="39867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upload_service.py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0"/>
          <p:cNvSpPr/>
          <p:nvPr/>
        </p:nvSpPr>
        <p:spPr>
          <a:xfrm>
            <a:off x="411480" y="4270248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requests.post na /api/upload; prima image URL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0"/>
          <p:cNvSpPr/>
          <p:nvPr/>
        </p:nvSpPr>
        <p:spPr>
          <a:xfrm>
            <a:off x="4800600" y="3922776"/>
            <a:ext cx="4206240" cy="80467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0"/>
          <p:cNvSpPr/>
          <p:nvPr/>
        </p:nvSpPr>
        <p:spPr>
          <a:xfrm>
            <a:off x="4937760" y="39867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topics.py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0"/>
          <p:cNvSpPr/>
          <p:nvPr/>
        </p:nvSpPr>
        <p:spPr>
          <a:xfrm>
            <a:off x="4937760" y="4270248"/>
            <a:ext cx="3931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Centralizovane MQTT topic konstante – jedno mesto izmene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8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Backend – Spring Boot 4.0.5 / Java 26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1"/>
          <p:cNvSpPr/>
          <p:nvPr/>
        </p:nvSpPr>
        <p:spPr>
          <a:xfrm>
            <a:off x="274320" y="960120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1"/>
          <p:cNvSpPr/>
          <p:nvPr/>
        </p:nvSpPr>
        <p:spPr>
          <a:xfrm>
            <a:off x="274320" y="960120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1"/>
          <p:cNvSpPr/>
          <p:nvPr/>
        </p:nvSpPr>
        <p:spPr>
          <a:xfrm>
            <a:off x="457200" y="1014984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MqttConfig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2651760" y="1014984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IntegrationFlow – inbound/outbound MQTT kanali (Paho 1.2.5)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1"/>
          <p:cNvSpPr/>
          <p:nvPr/>
        </p:nvSpPr>
        <p:spPr>
          <a:xfrm>
            <a:off x="274320" y="1536192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1"/>
          <p:cNvSpPr/>
          <p:nvPr/>
        </p:nvSpPr>
        <p:spPr>
          <a:xfrm>
            <a:off x="274320" y="1536192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>
            <a:off x="457200" y="1591056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MqttService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1"/>
          <p:cNvSpPr/>
          <p:nvPr/>
        </p:nvSpPr>
        <p:spPr>
          <a:xfrm>
            <a:off x="2651760" y="1591056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receive() → WebSocket forward; sendOpenCommand() → MQTT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1"/>
          <p:cNvSpPr/>
          <p:nvPr/>
        </p:nvSpPr>
        <p:spPr>
          <a:xfrm>
            <a:off x="274320" y="2112264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1"/>
          <p:cNvSpPr/>
          <p:nvPr/>
        </p:nvSpPr>
        <p:spPr>
          <a:xfrm>
            <a:off x="274320" y="2112264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1"/>
          <p:cNvSpPr/>
          <p:nvPr/>
        </p:nvSpPr>
        <p:spPr>
          <a:xfrm>
            <a:off x="457200" y="216712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ImageService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1"/>
          <p:cNvSpPr/>
          <p:nvPr/>
        </p:nvSpPr>
        <p:spPr>
          <a:xfrm>
            <a:off x="2651760" y="2167128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UUID fajl na disk + JPA zapis u </a:t>
            </a:r>
            <a:r>
              <a:rPr lang="en-US" sz="1100">
                <a:solidFill>
                  <a:srgbClr val="1E293B"/>
                </a:solidFill>
              </a:rPr>
              <a:t>MySQL</a:t>
            </a: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(ImageRecord entitet)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274320" y="2688336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1"/>
          <p:cNvSpPr/>
          <p:nvPr/>
        </p:nvSpPr>
        <p:spPr>
          <a:xfrm>
            <a:off x="274320" y="2688336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1"/>
          <p:cNvSpPr/>
          <p:nvPr/>
        </p:nvSpPr>
        <p:spPr>
          <a:xfrm>
            <a:off x="457200" y="274320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GateController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2651760" y="2743200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 /api/open → poziva sendOpenCommand()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1"/>
          <p:cNvSpPr/>
          <p:nvPr/>
        </p:nvSpPr>
        <p:spPr>
          <a:xfrm>
            <a:off x="274320" y="3264408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1"/>
          <p:cNvSpPr/>
          <p:nvPr/>
        </p:nvSpPr>
        <p:spPr>
          <a:xfrm>
            <a:off x="274320" y="3264408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1"/>
          <p:cNvSpPr/>
          <p:nvPr/>
        </p:nvSpPr>
        <p:spPr>
          <a:xfrm>
            <a:off x="457200" y="331927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UploadController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1"/>
          <p:cNvSpPr/>
          <p:nvPr/>
        </p:nvSpPr>
        <p:spPr>
          <a:xfrm>
            <a:off x="2651760" y="3319272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 /api/upload → prima MultipartFile, vraća URL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21"/>
          <p:cNvSpPr/>
          <p:nvPr/>
        </p:nvSpPr>
        <p:spPr>
          <a:xfrm>
            <a:off x="274320" y="3840480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1"/>
          <p:cNvSpPr/>
          <p:nvPr/>
        </p:nvSpPr>
        <p:spPr>
          <a:xfrm>
            <a:off x="274320" y="3840480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1"/>
          <p:cNvSpPr/>
          <p:nvPr/>
        </p:nvSpPr>
        <p:spPr>
          <a:xfrm>
            <a:off x="457200" y="3895344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WebSocketConfig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21"/>
          <p:cNvSpPr/>
          <p:nvPr/>
        </p:nvSpPr>
        <p:spPr>
          <a:xfrm>
            <a:off x="2651760" y="3895344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STOMP endpoint /ws-intercom, broker /topic, prefix /app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1"/>
          <p:cNvSpPr/>
          <p:nvPr/>
        </p:nvSpPr>
        <p:spPr>
          <a:xfrm>
            <a:off x="274320" y="4416552"/>
            <a:ext cx="85953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1"/>
          <p:cNvSpPr/>
          <p:nvPr/>
        </p:nvSpPr>
        <p:spPr>
          <a:xfrm>
            <a:off x="274320" y="4416552"/>
            <a:ext cx="54864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1"/>
          <p:cNvSpPr/>
          <p:nvPr/>
        </p:nvSpPr>
        <p:spPr>
          <a:xfrm>
            <a:off x="457200" y="4471416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onsolas"/>
              <a:buNone/>
            </a:pPr>
            <a:r>
              <a:rPr b="1" lang="en-US" sz="115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WebConfig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1"/>
          <p:cNvSpPr/>
          <p:nvPr/>
        </p:nvSpPr>
        <p:spPr>
          <a:xfrm>
            <a:off x="2651760" y="4471416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Statički handler /images/** → file:uploads/ direktorijum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2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77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Frontend – Angular (Standalone SSR)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2"/>
          <p:cNvSpPr/>
          <p:nvPr/>
        </p:nvSpPr>
        <p:spPr>
          <a:xfrm>
            <a:off x="274320" y="960120"/>
            <a:ext cx="4023360" cy="365760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2"/>
          <p:cNvSpPr/>
          <p:nvPr/>
        </p:nvSpPr>
        <p:spPr>
          <a:xfrm>
            <a:off x="457200" y="105156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Login Stranica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22"/>
          <p:cNvSpPr/>
          <p:nvPr/>
        </p:nvSpPr>
        <p:spPr>
          <a:xfrm>
            <a:off x="457200" y="1463040"/>
            <a:ext cx="365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Standalone Angular komponenta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FormsModule – ngModel two-way binding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Router.navigate(['/dashboard'])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localStorage token (loggedIn flag)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2"/>
          <p:cNvSpPr/>
          <p:nvPr/>
        </p:nvSpPr>
        <p:spPr>
          <a:xfrm>
            <a:off x="4846320" y="960120"/>
            <a:ext cx="4023360" cy="365760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22"/>
          <p:cNvSpPr/>
          <p:nvPr/>
        </p:nvSpPr>
        <p:spPr>
          <a:xfrm>
            <a:off x="5029200" y="105156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55E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22C55E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2"/>
          <p:cNvSpPr/>
          <p:nvPr/>
        </p:nvSpPr>
        <p:spPr>
          <a:xfrm>
            <a:off x="5022314" y="1284016"/>
            <a:ext cx="36576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STOMP klijent – @stomp/stompjs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Subscribe /topic/intercom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Real-time prikaz slike + info stana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ChangeDetectorRef.detectChanges()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Dugme Otvori → POST /api/open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94A3B8"/>
              </a:buClr>
              <a:buSzPts val="1150"/>
              <a:buFont typeface="Arial"/>
              <a:buChar char="•"/>
            </a:pPr>
            <a:r>
              <a:rPr lang="en-US" sz="11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isPlatformBrowser – SSR kompatibilnost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2"/>
          <p:cNvSpPr/>
          <p:nvPr/>
        </p:nvSpPr>
        <p:spPr>
          <a:xfrm>
            <a:off x="274320" y="3108960"/>
            <a:ext cx="4023360" cy="1280160"/>
          </a:xfrm>
          <a:prstGeom prst="rect">
            <a:avLst/>
          </a:prstGeom>
          <a:solidFill>
            <a:srgbClr val="0E2030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2"/>
          <p:cNvSpPr/>
          <p:nvPr/>
        </p:nvSpPr>
        <p:spPr>
          <a:xfrm>
            <a:off x="457200" y="320040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Consolas"/>
              <a:buNone/>
            </a:pPr>
            <a:r>
              <a:rPr b="1" lang="en-US" sz="110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IntercomService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2"/>
          <p:cNvSpPr/>
          <p:nvPr/>
        </p:nvSpPr>
        <p:spPr>
          <a:xfrm>
            <a:off x="457200" y="3493008"/>
            <a:ext cx="34747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connectWebSocket()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openGate() → HttpClient POST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event$ = Subject&lt;IntercomEvent&gt;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2"/>
          <p:cNvSpPr/>
          <p:nvPr/>
        </p:nvSpPr>
        <p:spPr>
          <a:xfrm>
            <a:off x="4846320" y="3108960"/>
            <a:ext cx="4023360" cy="1280160"/>
          </a:xfrm>
          <a:prstGeom prst="rect">
            <a:avLst/>
          </a:prstGeom>
          <a:solidFill>
            <a:srgbClr val="0E2030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2"/>
          <p:cNvSpPr/>
          <p:nvPr/>
        </p:nvSpPr>
        <p:spPr>
          <a:xfrm>
            <a:off x="5029200" y="3200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55E"/>
              </a:buClr>
              <a:buSzPts val="1100"/>
              <a:buFont typeface="Consolas"/>
              <a:buNone/>
            </a:pPr>
            <a:r>
              <a:rPr b="1" lang="en-US" sz="1100">
                <a:solidFill>
                  <a:srgbClr val="22C55E"/>
                </a:solidFill>
                <a:latin typeface="Consolas"/>
                <a:ea typeface="Consolas"/>
                <a:cs typeface="Consolas"/>
                <a:sym typeface="Consolas"/>
              </a:rPr>
              <a:t>app.routes.ts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22"/>
          <p:cNvSpPr/>
          <p:nvPr/>
        </p:nvSpPr>
        <p:spPr>
          <a:xfrm>
            <a:off x="5029200" y="3493008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/ → login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/login → LoginComponent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/dashboard → DashboardComponent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8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3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23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Tehnologije i Verzije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8" name="Google Shape;358;p23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{99FC7888-AA09-4E13-9951-130682FFCE90}</a:tableStyleId>
              </a:tblPr>
              <a:tblGrid>
                <a:gridCol w="2011675"/>
                <a:gridCol w="2834650"/>
                <a:gridCol w="3749050"/>
              </a:tblGrid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Sloj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Tehnologija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Verzija / Detalj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IoT platforma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Raspberry Pi + Python 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gpiozero, paho-mqtt, OpenCV, requests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MQTT komunikacija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Eclipse Paho (broker: Mosquitto)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MQTTv3.1.1 | port 1883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Backend framework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Spring Boot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4.0.5 | Java 26 | Maven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MQTT integracija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Spring Integration MQTT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Eclipse Paho Client 1.2.5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WebSocket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Spring WebSocket + STOMP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@stomp/stompjs (Angular klijent)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Persistencija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Spring Data JPA + </a:t>
                      </a:r>
                      <a:r>
                        <a:rPr lang="en-US" sz="110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MySQL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In-memory, auto-schema (ddl-auto: update)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Frontend framework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Angular (Standalone)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SSR | FormsModule | HttpClient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Serializacija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Jackson Databind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 ↔ DTO (IntercomEventDto)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Mediji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OpenCV (cv2)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JPEG capture | UUID imenovanje fajlova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4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77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4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Komunikacioni Protokoli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4"/>
          <p:cNvSpPr/>
          <p:nvPr/>
        </p:nvSpPr>
        <p:spPr>
          <a:xfrm>
            <a:off x="274320" y="960120"/>
            <a:ext cx="4023360" cy="320040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4"/>
          <p:cNvSpPr/>
          <p:nvPr/>
        </p:nvSpPr>
        <p:spPr>
          <a:xfrm>
            <a:off x="457200" y="105156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MQTT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24"/>
          <p:cNvSpPr/>
          <p:nvPr/>
        </p:nvSpPr>
        <p:spPr>
          <a:xfrm>
            <a:off x="457200" y="1444752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Mosquitto Broker  |  port 1883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24"/>
          <p:cNvSpPr/>
          <p:nvPr/>
        </p:nvSpPr>
        <p:spPr>
          <a:xfrm>
            <a:off x="457200" y="1828800"/>
            <a:ext cx="3657600" cy="868680"/>
          </a:xfrm>
          <a:prstGeom prst="rect">
            <a:avLst/>
          </a:prstGeom>
          <a:solidFill>
            <a:srgbClr val="0E2030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4"/>
          <p:cNvSpPr/>
          <p:nvPr/>
        </p:nvSpPr>
        <p:spPr>
          <a:xfrm>
            <a:off x="594360" y="1883664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interfon/pozivi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4"/>
          <p:cNvSpPr/>
          <p:nvPr/>
        </p:nvSpPr>
        <p:spPr>
          <a:xfrm>
            <a:off x="594360" y="2139696"/>
            <a:ext cx="3383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RPi → Backend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24"/>
          <p:cNvSpPr/>
          <p:nvPr/>
        </p:nvSpPr>
        <p:spPr>
          <a:xfrm>
            <a:off x="594360" y="2340864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JSON event: stan + image_url + timestamp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24"/>
          <p:cNvSpPr/>
          <p:nvPr/>
        </p:nvSpPr>
        <p:spPr>
          <a:xfrm>
            <a:off x="457200" y="2926080"/>
            <a:ext cx="3657600" cy="868680"/>
          </a:xfrm>
          <a:prstGeom prst="rect">
            <a:avLst/>
          </a:prstGeom>
          <a:solidFill>
            <a:srgbClr val="0E2030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4"/>
          <p:cNvSpPr/>
          <p:nvPr/>
        </p:nvSpPr>
        <p:spPr>
          <a:xfrm>
            <a:off x="594360" y="2980944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1B9AAA"/>
                </a:solidFill>
                <a:latin typeface="Consolas"/>
                <a:ea typeface="Consolas"/>
                <a:cs typeface="Consolas"/>
                <a:sym typeface="Consolas"/>
              </a:rPr>
              <a:t>interfon/kapija/komande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4"/>
          <p:cNvSpPr/>
          <p:nvPr/>
        </p:nvSpPr>
        <p:spPr>
          <a:xfrm>
            <a:off x="594360" y="3236976"/>
            <a:ext cx="3383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Backend → RPi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4"/>
          <p:cNvSpPr/>
          <p:nvPr/>
        </p:nvSpPr>
        <p:spPr>
          <a:xfrm>
            <a:off x="594360" y="3438144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JSON komanda: {"type":"OPEN"}</a:t>
            </a:r>
            <a:endParaRPr sz="9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24"/>
          <p:cNvSpPr/>
          <p:nvPr/>
        </p:nvSpPr>
        <p:spPr>
          <a:xfrm>
            <a:off x="4846320" y="960120"/>
            <a:ext cx="4023360" cy="3200400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4"/>
          <p:cNvSpPr/>
          <p:nvPr/>
        </p:nvSpPr>
        <p:spPr>
          <a:xfrm>
            <a:off x="5029200" y="105156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C55E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22C55E"/>
                </a:solidFill>
                <a:latin typeface="Arial"/>
                <a:ea typeface="Arial"/>
                <a:cs typeface="Arial"/>
                <a:sym typeface="Arial"/>
              </a:rPr>
              <a:t>WebSocket / STOMP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4"/>
          <p:cNvSpPr/>
          <p:nvPr/>
        </p:nvSpPr>
        <p:spPr>
          <a:xfrm>
            <a:off x="5029200" y="1444752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Spring Boot ↔ Angular  |  port 8080</a:t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24"/>
          <p:cNvSpPr/>
          <p:nvPr/>
        </p:nvSpPr>
        <p:spPr>
          <a:xfrm>
            <a:off x="5029200" y="182880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Endpoint: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4"/>
          <p:cNvSpPr/>
          <p:nvPr/>
        </p:nvSpPr>
        <p:spPr>
          <a:xfrm>
            <a:off x="6263640" y="1828800"/>
            <a:ext cx="2468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ws://host:8080/ws-intercom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24"/>
          <p:cNvSpPr/>
          <p:nvPr/>
        </p:nvSpPr>
        <p:spPr>
          <a:xfrm>
            <a:off x="5029200" y="2487168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Subscribe: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4"/>
          <p:cNvSpPr/>
          <p:nvPr/>
        </p:nvSpPr>
        <p:spPr>
          <a:xfrm>
            <a:off x="6263640" y="2487168"/>
            <a:ext cx="2468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/topic/intercom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5029200" y="3145536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Prefix: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4"/>
          <p:cNvSpPr/>
          <p:nvPr/>
        </p:nvSpPr>
        <p:spPr>
          <a:xfrm>
            <a:off x="6263640" y="3145536"/>
            <a:ext cx="2468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/app (application destination)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4"/>
          <p:cNvSpPr/>
          <p:nvPr/>
        </p:nvSpPr>
        <p:spPr>
          <a:xfrm>
            <a:off x="5029200" y="3803904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Reconnect: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24"/>
          <p:cNvSpPr/>
          <p:nvPr/>
        </p:nvSpPr>
        <p:spPr>
          <a:xfrm>
            <a:off x="6263640" y="3803904"/>
            <a:ext cx="2468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nsolas"/>
              <a:buNone/>
            </a:pPr>
            <a:r>
              <a:rPr lang="en-US" sz="10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5000ms auto-reconnect delay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24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050"/>
              <a:buFont typeface="Arial"/>
              <a:buNone/>
            </a:pPr>
            <a:r>
              <a:rPr i="1" lang="en-US" sz="105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Automatski reconnect na oba protokola – sistem je otporan na kratke ispade mreže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8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5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5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 Projekta i Buduća Proširenja</a:t>
            </a:r>
            <a:endParaRPr sz="2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5"/>
          <p:cNvSpPr/>
          <p:nvPr/>
        </p:nvSpPr>
        <p:spPr>
          <a:xfrm>
            <a:off x="274320" y="9601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Implementirano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25"/>
          <p:cNvSpPr/>
          <p:nvPr/>
        </p:nvSpPr>
        <p:spPr>
          <a:xfrm>
            <a:off x="4754880" y="9601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Planirano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5"/>
          <p:cNvSpPr/>
          <p:nvPr/>
        </p:nvSpPr>
        <p:spPr>
          <a:xfrm>
            <a:off x="274320" y="1325880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5"/>
          <p:cNvSpPr/>
          <p:nvPr/>
        </p:nvSpPr>
        <p:spPr>
          <a:xfrm>
            <a:off x="274320" y="1325880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5"/>
          <p:cNvSpPr/>
          <p:nvPr/>
        </p:nvSpPr>
        <p:spPr>
          <a:xfrm>
            <a:off x="438912" y="1362456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IoT – kamera + upload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5"/>
          <p:cNvSpPr/>
          <p:nvPr/>
        </p:nvSpPr>
        <p:spPr>
          <a:xfrm>
            <a:off x="274320" y="1755648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25"/>
          <p:cNvSpPr/>
          <p:nvPr/>
        </p:nvSpPr>
        <p:spPr>
          <a:xfrm>
            <a:off x="274320" y="1755648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5"/>
          <p:cNvSpPr/>
          <p:nvPr/>
        </p:nvSpPr>
        <p:spPr>
          <a:xfrm>
            <a:off x="438912" y="179222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IoT – MQTT publish/subscribe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5"/>
          <p:cNvSpPr/>
          <p:nvPr/>
        </p:nvSpPr>
        <p:spPr>
          <a:xfrm>
            <a:off x="274320" y="2185416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25"/>
          <p:cNvSpPr/>
          <p:nvPr/>
        </p:nvSpPr>
        <p:spPr>
          <a:xfrm>
            <a:off x="274320" y="2185416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5"/>
          <p:cNvSpPr/>
          <p:nvPr/>
        </p:nvSpPr>
        <p:spPr>
          <a:xfrm>
            <a:off x="438912" y="22219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IoT – relej (GPIO + sim.)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5"/>
          <p:cNvSpPr/>
          <p:nvPr/>
        </p:nvSpPr>
        <p:spPr>
          <a:xfrm>
            <a:off x="274320" y="2615184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5"/>
          <p:cNvSpPr/>
          <p:nvPr/>
        </p:nvSpPr>
        <p:spPr>
          <a:xfrm>
            <a:off x="274320" y="2615184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5"/>
          <p:cNvSpPr/>
          <p:nvPr/>
        </p:nvSpPr>
        <p:spPr>
          <a:xfrm>
            <a:off x="438912" y="265176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Backend – REST API upload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25"/>
          <p:cNvSpPr/>
          <p:nvPr/>
        </p:nvSpPr>
        <p:spPr>
          <a:xfrm>
            <a:off x="274320" y="3044952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5"/>
          <p:cNvSpPr/>
          <p:nvPr/>
        </p:nvSpPr>
        <p:spPr>
          <a:xfrm>
            <a:off x="274320" y="3044952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5"/>
          <p:cNvSpPr/>
          <p:nvPr/>
        </p:nvSpPr>
        <p:spPr>
          <a:xfrm>
            <a:off x="438912" y="308152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Backend – MQTT bridge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25"/>
          <p:cNvSpPr/>
          <p:nvPr/>
        </p:nvSpPr>
        <p:spPr>
          <a:xfrm>
            <a:off x="274320" y="3474720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5"/>
          <p:cNvSpPr/>
          <p:nvPr/>
        </p:nvSpPr>
        <p:spPr>
          <a:xfrm>
            <a:off x="274320" y="3474720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5"/>
          <p:cNvSpPr/>
          <p:nvPr/>
        </p:nvSpPr>
        <p:spPr>
          <a:xfrm>
            <a:off x="438912" y="3511296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Backend – WebSocket STOMP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25"/>
          <p:cNvSpPr/>
          <p:nvPr/>
        </p:nvSpPr>
        <p:spPr>
          <a:xfrm>
            <a:off x="274320" y="3904488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25"/>
          <p:cNvSpPr/>
          <p:nvPr/>
        </p:nvSpPr>
        <p:spPr>
          <a:xfrm>
            <a:off x="274320" y="3904488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5"/>
          <p:cNvSpPr/>
          <p:nvPr/>
        </p:nvSpPr>
        <p:spPr>
          <a:xfrm>
            <a:off x="438912" y="394106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Frontend – Login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5"/>
          <p:cNvSpPr/>
          <p:nvPr/>
        </p:nvSpPr>
        <p:spPr>
          <a:xfrm>
            <a:off x="274320" y="4334256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5"/>
          <p:cNvSpPr/>
          <p:nvPr/>
        </p:nvSpPr>
        <p:spPr>
          <a:xfrm>
            <a:off x="274320" y="4334256"/>
            <a:ext cx="54864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5"/>
          <p:cNvSpPr/>
          <p:nvPr/>
        </p:nvSpPr>
        <p:spPr>
          <a:xfrm>
            <a:off x="438912" y="437083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✅  Frontend – Dashboard RT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25"/>
          <p:cNvSpPr/>
          <p:nvPr/>
        </p:nvSpPr>
        <p:spPr>
          <a:xfrm>
            <a:off x="4754880" y="132588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5"/>
          <p:cNvSpPr/>
          <p:nvPr/>
        </p:nvSpPr>
        <p:spPr>
          <a:xfrm>
            <a:off x="4754880" y="132588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5"/>
          <p:cNvSpPr/>
          <p:nvPr/>
        </p:nvSpPr>
        <p:spPr>
          <a:xfrm>
            <a:off x="4919472" y="1380744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🔄  JWT autentikacija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5"/>
          <p:cNvSpPr/>
          <p:nvPr/>
        </p:nvSpPr>
        <p:spPr>
          <a:xfrm>
            <a:off x="4754880" y="192024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5"/>
          <p:cNvSpPr/>
          <p:nvPr/>
        </p:nvSpPr>
        <p:spPr>
          <a:xfrm>
            <a:off x="4754880" y="192024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5"/>
          <p:cNvSpPr/>
          <p:nvPr/>
        </p:nvSpPr>
        <p:spPr>
          <a:xfrm>
            <a:off x="4919472" y="1975104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🔄  PostgreSQL (prod. baza)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25"/>
          <p:cNvSpPr/>
          <p:nvPr/>
        </p:nvSpPr>
        <p:spPr>
          <a:xfrm>
            <a:off x="4754880" y="2670048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Potencijalna proširenja: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5"/>
          <p:cNvSpPr/>
          <p:nvPr/>
        </p:nvSpPr>
        <p:spPr>
          <a:xfrm>
            <a:off x="4754880" y="2999232"/>
            <a:ext cx="41148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JWT / OAuth2 sigurnost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PostgreSQL produkcijska baza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Firebase push notifikacije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Istorija posetilaca + pretraga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Face recognition (AI/ML)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Video stream (RTSP/HLS)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6"/>
          <p:cNvSpPr/>
          <p:nvPr/>
        </p:nvSpPr>
        <p:spPr>
          <a:xfrm>
            <a:off x="-457200" y="3200400"/>
            <a:ext cx="3657600" cy="3657600"/>
          </a:xfrm>
          <a:prstGeom prst="ellipse">
            <a:avLst/>
          </a:prstGeom>
          <a:solidFill>
            <a:srgbClr val="1B9AAA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6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1B9AAA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6"/>
          <p:cNvSpPr/>
          <p:nvPr/>
        </p:nvSpPr>
        <p:spPr>
          <a:xfrm>
            <a:off x="457200" y="44817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Demo Video</a:t>
            </a:r>
            <a:endParaRPr sz="3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2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i="1" sz="1100">
              <a:solidFill>
                <a:srgbClr val="1B9AA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9" name="Google Shape;43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729" y="687305"/>
            <a:ext cx="7826541" cy="44531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7"/>
          <p:cNvSpPr/>
          <p:nvPr/>
        </p:nvSpPr>
        <p:spPr>
          <a:xfrm>
            <a:off x="-457200" y="3200400"/>
            <a:ext cx="3657600" cy="3657600"/>
          </a:xfrm>
          <a:prstGeom prst="ellipse">
            <a:avLst/>
          </a:prstGeom>
          <a:solidFill>
            <a:srgbClr val="1B9AAA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27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1B9AAA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7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</a:pPr>
            <a:r>
              <a:rPr b="1" lang="en-US" sz="3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Zaključak</a:t>
            </a:r>
            <a:endParaRPr sz="3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27"/>
          <p:cNvSpPr/>
          <p:nvPr/>
        </p:nvSpPr>
        <p:spPr>
          <a:xfrm>
            <a:off x="914400" y="1417320"/>
            <a:ext cx="7315200" cy="53035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27"/>
          <p:cNvSpPr/>
          <p:nvPr/>
        </p:nvSpPr>
        <p:spPr>
          <a:xfrm>
            <a:off x="1097280" y="1472184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🏗️  Kompletna IoT arhitektura – 3 odvojena sloja (RPi, Backend, Frontend)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7"/>
          <p:cNvSpPr/>
          <p:nvPr/>
        </p:nvSpPr>
        <p:spPr>
          <a:xfrm>
            <a:off x="914400" y="2084832"/>
            <a:ext cx="7315200" cy="53035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7"/>
          <p:cNvSpPr/>
          <p:nvPr/>
        </p:nvSpPr>
        <p:spPr>
          <a:xfrm>
            <a:off x="1097280" y="2139696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⚡  Real-time komunikacija: MQTT + WebSocket/STOMP bez poolinga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27"/>
          <p:cNvSpPr/>
          <p:nvPr/>
        </p:nvSpPr>
        <p:spPr>
          <a:xfrm>
            <a:off x="914400" y="2752344"/>
            <a:ext cx="7315200" cy="53035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7"/>
          <p:cNvSpPr/>
          <p:nvPr/>
        </p:nvSpPr>
        <p:spPr>
          <a:xfrm>
            <a:off x="1097280" y="2807208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🔒  Bezbedno upravljanje pristupom na daljinu uz verifikaciju slike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27"/>
          <p:cNvSpPr/>
          <p:nvPr/>
        </p:nvSpPr>
        <p:spPr>
          <a:xfrm>
            <a:off x="914400" y="3419856"/>
            <a:ext cx="7315200" cy="53035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7"/>
          <p:cNvSpPr/>
          <p:nvPr/>
        </p:nvSpPr>
        <p:spPr>
          <a:xfrm>
            <a:off x="1097280" y="3474720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📦  Modularan i proširiv kod – svaki servis ima jednu odgovornost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27"/>
          <p:cNvSpPr/>
          <p:nvPr/>
        </p:nvSpPr>
        <p:spPr>
          <a:xfrm>
            <a:off x="914400" y="4087368"/>
            <a:ext cx="7315200" cy="530352"/>
          </a:xfrm>
          <a:prstGeom prst="rect">
            <a:avLst/>
          </a:prstGeom>
          <a:solidFill>
            <a:srgbClr val="162435"/>
          </a:solidFill>
          <a:ln cap="flat" cmpd="sng" w="12700">
            <a:solidFill>
              <a:srgbClr val="1B9A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27"/>
          <p:cNvSpPr/>
          <p:nvPr/>
        </p:nvSpPr>
        <p:spPr>
          <a:xfrm>
            <a:off x="1097280" y="4142232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🧪  TEST_MODE omogućava razvoj i demo bez fizičkog hardvera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9AAA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1B9AAA"/>
                </a:solidFill>
                <a:latin typeface="Arial"/>
                <a:ea typeface="Arial"/>
                <a:cs typeface="Arial"/>
                <a:sym typeface="Arial"/>
              </a:rPr>
              <a:t>SmartGate  –  IoT Smart Intercom System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ylanVTI">
  <a:themeElements>
    <a:clrScheme name="DylanVTI">
      <a:dk1>
        <a:srgbClr val="000000"/>
      </a:dk1>
      <a:lt1>
        <a:srgbClr val="FFFFFF"/>
      </a:lt1>
      <a:dk2>
        <a:srgbClr val="1A1A33"/>
      </a:dk2>
      <a:lt2>
        <a:srgbClr val="EEFFE3"/>
      </a:lt2>
      <a:accent1>
        <a:srgbClr val="5C40EF"/>
      </a:accent1>
      <a:accent2>
        <a:srgbClr val="B8A0F8"/>
      </a:accent2>
      <a:accent3>
        <a:srgbClr val="00C777"/>
      </a:accent3>
      <a:accent4>
        <a:srgbClr val="005A66"/>
      </a:accent4>
      <a:accent5>
        <a:srgbClr val="9956EA"/>
      </a:accent5>
      <a:accent6>
        <a:srgbClr val="9BBB25"/>
      </a:accent6>
      <a:hlink>
        <a:srgbClr val="674CF0"/>
      </a:hlink>
      <a:folHlink>
        <a:srgbClr val="B536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
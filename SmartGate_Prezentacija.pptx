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16"/>
  </p:notesMasterIdLst>
  <p:sldIdLst>
    <p:sldId id="256" r:id="rId2"/>
    <p:sldId id="257" r:id="rId3"/>
    <p:sldId id="270" r:id="rId4"/>
    <p:sldId id="271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7" r:id="rId14"/>
    <p:sldId id="266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B9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364C6E-A40F-C146-55AF-F0E60E7A7929}" v="59" dt="2026-04-30T17:46:39.176"/>
    <p1510:client id="{78DEBF61-6ADC-563B-6785-43B526E30F13}" v="216" dt="2026-04-30T17:27:41.1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94BE0B-5EEA-4974-BF0C-E6957CE015FF}" type="datetimeFigureOut">
              <a:t>30.4.2026.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01AE0-0B00-429E-B663-2425DA9E693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641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4C6A3-DD7A-A86A-3079-090C9B427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D91ED4-B9B3-D562-8953-C925F7F6E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483F8-F6C5-9F4F-8144-7AA9578770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FF6C9-E18D-71B9-2987-9071135013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4354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E2C99-4171-7289-9772-CAF5EA34C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3838E2-AA6B-5BC2-A535-C599805912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5BC22B-9A73-4B0B-64C1-CEDA12A52B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CE6D8-F22E-D870-18EF-D06CD83CEB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736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82618-8704-9428-4F39-CA61518FF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5E8421-B86C-1E86-E71D-953BE1905E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B8DC36-E00D-3047-B44E-13E9576A6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26939-1EE9-7FD8-5B21-AC40A5DC6C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3769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1292" y="559081"/>
            <a:ext cx="6099170" cy="2669894"/>
          </a:xfrm>
        </p:spPr>
        <p:txBody>
          <a:bodyPr anchor="t">
            <a:normAutofit/>
          </a:bodyPr>
          <a:lstStyle>
            <a:lvl1pPr algn="l">
              <a:defRPr sz="9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982" y="3501987"/>
            <a:ext cx="6099170" cy="1012863"/>
          </a:xfrm>
        </p:spPr>
        <p:txBody>
          <a:bodyPr anchor="b">
            <a:normAutofit/>
          </a:bodyPr>
          <a:lstStyle>
            <a:lvl1pPr marL="0" indent="0" algn="l">
              <a:buNone/>
              <a:defRPr sz="3556"/>
            </a:lvl1pPr>
            <a:lvl2pPr marL="812810" indent="0" algn="ctr">
              <a:buNone/>
              <a:defRPr sz="3556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586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1620" userDrawn="1">
          <p15:clr>
            <a:srgbClr val="FBAE40"/>
          </p15:clr>
        </p15:guide>
        <p15:guide id="6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6E74-14FC-84D9-4B41-7D9FB0D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5A7DC-6292-6181-949E-F8BC3FA1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F5C6-EADC-E072-B19B-49BB11DF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905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2054-1AE7-534F-0CFE-1F0628A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104" y="1682782"/>
            <a:ext cx="6867216" cy="2832068"/>
          </a:xfrm>
        </p:spPr>
        <p:txBody>
          <a:bodyPr anchor="b">
            <a:normAutofit/>
          </a:bodyPr>
          <a:lstStyle>
            <a:lvl1pPr>
              <a:defRPr sz="1173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EC2A-45C7-131C-0F4A-56E62EB0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5103" y="628651"/>
            <a:ext cx="6867217" cy="1054131"/>
          </a:xfrm>
        </p:spPr>
        <p:txBody>
          <a:bodyPr>
            <a:normAutofit/>
          </a:bodyPr>
          <a:lstStyle>
            <a:lvl1pPr marL="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A323-2679-E978-8856-2FEBE8F5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1DC2-625E-0477-BF8C-F3CDDCE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A644-D449-E464-C2DF-F045A51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976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2719-44A3-3EE8-D757-F0E0F96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98" y="562970"/>
            <a:ext cx="8134917" cy="978113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0DC2-69F2-A056-508C-F5138E71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2721" y="1556438"/>
            <a:ext cx="3428466" cy="3076119"/>
          </a:xfrm>
        </p:spPr>
        <p:txBody>
          <a:bodyPr>
            <a:normAutofit/>
          </a:bodyPr>
          <a:lstStyle>
            <a:lvl1pPr>
              <a:defRPr sz="3556"/>
            </a:lvl1pPr>
            <a:lvl2pPr>
              <a:defRPr sz="3200"/>
            </a:lvl2pPr>
            <a:lvl3pPr>
              <a:defRPr sz="2844"/>
            </a:lvl3pPr>
            <a:lvl4pPr>
              <a:defRPr sz="2489"/>
            </a:lvl4pPr>
            <a:lvl5pPr>
              <a:defRPr sz="2489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2243E-0673-54F2-5B38-DF5D2C7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84671" y="1556438"/>
            <a:ext cx="3577643" cy="3076119"/>
          </a:xfrm>
        </p:spPr>
        <p:txBody>
          <a:bodyPr>
            <a:normAutofit/>
          </a:bodyPr>
          <a:lstStyle>
            <a:lvl1pPr>
              <a:defRPr sz="3556"/>
            </a:lvl1pPr>
            <a:lvl2pPr>
              <a:defRPr sz="3200"/>
            </a:lvl2pPr>
            <a:lvl3pPr>
              <a:defRPr sz="2844"/>
            </a:lvl3pPr>
            <a:lvl4pPr>
              <a:defRPr sz="2489"/>
            </a:lvl4pPr>
            <a:lvl5pPr>
              <a:defRPr sz="2489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6B7D-7BAF-8DE9-FB5A-282908B0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99017-BDD7-56C7-43AE-4B86AC78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7D63-14BF-E333-B350-75DA58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373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7F72-3970-859F-C268-E9940EF2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237" y="557852"/>
            <a:ext cx="8073203" cy="76902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7CC6-89B8-3CF3-6973-1B5B7178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2721" y="1326874"/>
            <a:ext cx="3428465" cy="611256"/>
          </a:xfrm>
        </p:spPr>
        <p:txBody>
          <a:bodyPr anchor="b">
            <a:noAutofit/>
          </a:bodyPr>
          <a:lstStyle>
            <a:lvl1pPr marL="0" indent="0">
              <a:buNone/>
              <a:defRPr sz="3556" b="0" cap="all" spc="178" baseline="0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50EB0-E35B-DA3D-B6A1-2422B01C6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2721" y="2008948"/>
            <a:ext cx="3428465" cy="26300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A15D0-F178-1506-0E61-C8FFDF9BD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873975" y="1326874"/>
            <a:ext cx="3428465" cy="611256"/>
          </a:xfrm>
        </p:spPr>
        <p:txBody>
          <a:bodyPr anchor="b">
            <a:noAutofit/>
          </a:bodyPr>
          <a:lstStyle>
            <a:lvl1pPr marL="0" indent="0">
              <a:buNone/>
              <a:defRPr sz="3556" b="0" cap="all" spc="178" baseline="0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CB421-A65A-A7DC-40A7-D8B76F9C3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873975" y="2008947"/>
            <a:ext cx="3428465" cy="263003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F5675-5329-D2DB-FAFF-700D076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92A97-07D9-5E5C-2A31-3B7D764C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26143-8FEE-0ABD-25C7-C34AF65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382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6EFE-D86C-B076-D4D1-FAD1883E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291" y="568324"/>
            <a:ext cx="5430220" cy="2660651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3B23-C631-4B62-3211-30222AB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9A1FB-EA0D-F6A3-A4EB-001AA08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671B7-A902-587D-89D0-ECFB738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859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27D49-E5B4-0E67-FCFC-62A04E70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E4B02-DD32-C63F-6FEE-BC36E2EF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5FA8B-18F7-7DDC-74E0-B1C7139E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159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D42A-8FC3-F6BE-4CF7-1490DE4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047" y="574977"/>
            <a:ext cx="2963809" cy="1132971"/>
          </a:xfrm>
        </p:spPr>
        <p:txBody>
          <a:bodyPr anchor="t"/>
          <a:lstStyle>
            <a:lvl1pPr>
              <a:defRPr sz="5689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2BAA-1CCB-696D-D506-5E174708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9050" y="526840"/>
            <a:ext cx="4687491" cy="3988010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7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3C3E7-B970-EF6C-A6D3-6CB81C94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2965" y="1707948"/>
            <a:ext cx="2814560" cy="2806901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2464-D130-7DA0-050D-B444566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2B3B4-209E-187A-6F86-2F2EAD9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A2A86-6CB1-F027-66AC-8EBFA9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79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229" y="574387"/>
            <a:ext cx="2996770" cy="1331084"/>
          </a:xfrm>
        </p:spPr>
        <p:txBody>
          <a:bodyPr anchor="t"/>
          <a:lstStyle>
            <a:lvl1pPr>
              <a:defRPr sz="5689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8CDE2-0C1B-D3BE-F399-98D983EF453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829050" y="628651"/>
            <a:ext cx="4687491" cy="3886199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5103" y="1914525"/>
            <a:ext cx="2802422" cy="2600324"/>
          </a:xfrm>
        </p:spPr>
        <p:txBody>
          <a:bodyPr anchor="b"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5103" y="47402"/>
            <a:ext cx="2057400" cy="238666"/>
          </a:xfrm>
        </p:spPr>
        <p:txBody>
          <a:bodyPr/>
          <a:lstStyle/>
          <a:p>
            <a:fld id="{3220A08F-2B1D-4498-A043-7C299B1C2561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42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EBC-9F49-FA9D-D13C-DB380A6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291" y="568088"/>
            <a:ext cx="8156965" cy="91098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CB13-23E6-D711-450C-A85A0CB9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51601" y="1479076"/>
            <a:ext cx="8136655" cy="303577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BB7B-5C14-76DB-FEA8-3DBC09A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13CC-29B3-9FDC-C746-D5D65CC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2A12-895F-E9BE-5289-4E0411B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195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17614-2270-537D-8B09-6CB65016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19622" y="566986"/>
            <a:ext cx="1708164" cy="400377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C98B5-885C-CBB1-A858-76F65F7D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49" y="566986"/>
            <a:ext cx="6172565" cy="400377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5DAFE-6A83-FB7D-72DF-232EFE20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1CCF-A3CD-506E-3AAE-CAEFA8C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DD9D-25C2-0EDF-A6F4-71946D5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7759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6745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291" y="465151"/>
            <a:ext cx="7467560" cy="10790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1601" y="1730086"/>
            <a:ext cx="7467560" cy="2902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A067-55BA-33CD-E6F2-B24B2D5DE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5103" y="47402"/>
            <a:ext cx="2057400" cy="2386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22">
                <a:solidFill>
                  <a:schemeClr val="tx1"/>
                </a:solidFill>
              </a:defRPr>
            </a:lvl1pPr>
          </a:lstStyle>
          <a:p>
            <a:fld id="{567E9B64-DC09-41C8-9DE3-DA74AF8D2F97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EAE2-7EF5-FFAA-CD74-AA63C6711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08012" y="4818571"/>
            <a:ext cx="304495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22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52963" y="4819362"/>
            <a:ext cx="32232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22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2900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96" userDrawn="1">
          <p15:clr>
            <a:srgbClr val="F26B43"/>
          </p15:clr>
        </p15:guide>
        <p15:guide id="19" orient="horz" pos="1620" userDrawn="1">
          <p15:clr>
            <a:srgbClr val="F26B43"/>
          </p15:clr>
        </p15:guide>
        <p15:guide id="20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1B9AAA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1B9AAA">
              <a:alpha val="10000"/>
            </a:srgb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3716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SmartGate</a:t>
            </a:r>
            <a:endParaRPr lang="en-US" sz="5200"/>
          </a:p>
        </p:txBody>
      </p:sp>
      <p:sp>
        <p:nvSpPr>
          <p:cNvPr id="7" name="Text 4"/>
          <p:cNvSpPr/>
          <p:nvPr/>
        </p:nvSpPr>
        <p:spPr>
          <a:xfrm>
            <a:off x="274320" y="2514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Smart Intercom System</a:t>
            </a:r>
            <a:endParaRPr lang="en-US" sz="2200"/>
          </a:p>
        </p:txBody>
      </p:sp>
      <p:sp>
        <p:nvSpPr>
          <p:cNvPr id="8" name="Shape 5"/>
          <p:cNvSpPr/>
          <p:nvPr/>
        </p:nvSpPr>
        <p:spPr>
          <a:xfrm>
            <a:off x="274320" y="3154680"/>
            <a:ext cx="3657600" cy="36576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9" name="Shape 6"/>
          <p:cNvSpPr/>
          <p:nvPr/>
        </p:nvSpPr>
        <p:spPr>
          <a:xfrm>
            <a:off x="274320" y="3383280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162435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33832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1B9AAA"/>
                </a:solidFill>
              </a:rPr>
              <a:t>Raspberry Pi</a:t>
            </a:r>
            <a:endParaRPr lang="en-US" sz="1100"/>
          </a:p>
        </p:txBody>
      </p:sp>
      <p:sp>
        <p:nvSpPr>
          <p:cNvPr id="11" name="Shape 8"/>
          <p:cNvSpPr/>
          <p:nvPr/>
        </p:nvSpPr>
        <p:spPr>
          <a:xfrm>
            <a:off x="2423160" y="3383280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162435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23160" y="33832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1B9AAA"/>
                </a:solidFill>
              </a:rPr>
              <a:t>MQTT</a:t>
            </a:r>
            <a:endParaRPr lang="en-US" sz="1100"/>
          </a:p>
        </p:txBody>
      </p:sp>
      <p:sp>
        <p:nvSpPr>
          <p:cNvPr id="13" name="Shape 10"/>
          <p:cNvSpPr/>
          <p:nvPr/>
        </p:nvSpPr>
        <p:spPr>
          <a:xfrm>
            <a:off x="4572000" y="3383280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162435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0" y="33832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1B9AAA"/>
                </a:solidFill>
              </a:rPr>
              <a:t>Spring Boot</a:t>
            </a:r>
            <a:endParaRPr lang="en-US" sz="1100"/>
          </a:p>
        </p:txBody>
      </p:sp>
      <p:sp>
        <p:nvSpPr>
          <p:cNvPr id="15" name="Shape 12"/>
          <p:cNvSpPr/>
          <p:nvPr/>
        </p:nvSpPr>
        <p:spPr>
          <a:xfrm>
            <a:off x="6720840" y="3383280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162435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20840" y="33832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1B9AAA"/>
                </a:solidFill>
              </a:rPr>
              <a:t>Angular</a:t>
            </a:r>
            <a:endParaRPr lang="en-US" sz="1100"/>
          </a:p>
        </p:txBody>
      </p:sp>
      <p:sp>
        <p:nvSpPr>
          <p:cNvPr id="17" name="Text 14"/>
          <p:cNvSpPr/>
          <p:nvPr/>
        </p:nvSpPr>
        <p:spPr>
          <a:xfrm>
            <a:off x="27432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err="1">
                <a:solidFill>
                  <a:srgbClr val="94A3B8"/>
                </a:solidFill>
              </a:rPr>
              <a:t>Odbrana</a:t>
            </a:r>
            <a:r>
              <a:rPr lang="en-US" sz="1100">
                <a:solidFill>
                  <a:srgbClr val="94A3B8"/>
                </a:solidFill>
              </a:rPr>
              <a:t> </a:t>
            </a:r>
            <a:r>
              <a:rPr lang="en-US" sz="1100" err="1">
                <a:solidFill>
                  <a:srgbClr val="94A3B8"/>
                </a:solidFill>
              </a:rPr>
              <a:t>završnog</a:t>
            </a:r>
            <a:r>
              <a:rPr lang="en-US" sz="1100">
                <a:solidFill>
                  <a:srgbClr val="94A3B8"/>
                </a:solidFill>
              </a:rPr>
              <a:t> </a:t>
            </a:r>
            <a:r>
              <a:rPr lang="en-US" sz="1100" err="1">
                <a:solidFill>
                  <a:srgbClr val="94A3B8"/>
                </a:solidFill>
              </a:rPr>
              <a:t>projekta</a:t>
            </a:r>
            <a:r>
              <a:rPr lang="en-US" sz="1100">
                <a:solidFill>
                  <a:srgbClr val="94A3B8"/>
                </a:solidFill>
              </a:rPr>
              <a:t>  |  2026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</a:rPr>
              <a:t>Motivacija i Problem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393192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393192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97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E293B"/>
                </a:solidFill>
              </a:rPr>
              <a:t>❌  Klasični Interfon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Fizičko prisustvo je neophodno</a:t>
            </a:r>
            <a:endParaRPr lang="en-US" sz="13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 prikaza ko stoji na vratima</a:t>
            </a:r>
            <a:endParaRPr lang="en-US" sz="13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 evidencije posetilaca</a:t>
            </a:r>
            <a:endParaRPr lang="en-US" sz="13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 moguće upravljati s mobilnog</a:t>
            </a:r>
            <a:endParaRPr lang="en-US" sz="13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 skalabilno za velike zgrade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4892040" y="1005840"/>
            <a:ext cx="393192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005840"/>
            <a:ext cx="3931920" cy="731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097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E293B"/>
                </a:solidFill>
              </a:rPr>
              <a:t>✅  SmartGate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5029200" y="160020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Upravljanje s bilo kog uređaja</a:t>
            </a:r>
            <a:endParaRPr lang="en-US" sz="13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slika posetioca</a:t>
            </a:r>
            <a:endParaRPr lang="en-US" sz="13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Beleži svaki pokušaj pristupa</a:t>
            </a:r>
            <a:endParaRPr lang="en-US" sz="13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web aplikacija – dashboard</a:t>
            </a:r>
            <a:endParaRPr lang="en-US" sz="13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Podrška za više stanova</a:t>
            </a:r>
            <a:endParaRPr lang="en-US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7C12AF-B29C-8DCD-6909-05B7F2591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09C2415-9282-DBC7-B7D6-3475143D9AFA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7785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50F7226-82D6-B046-4F32-E917F3463714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dirty="0" err="1">
                <a:ea typeface="+mn-lt"/>
                <a:cs typeface="+mn-lt"/>
              </a:rPr>
              <a:t>Vrednosna</a:t>
            </a:r>
            <a:r>
              <a:rPr lang="en-US" sz="2600" dirty="0">
                <a:ea typeface="+mn-lt"/>
                <a:cs typeface="+mn-lt"/>
              </a:rPr>
              <a:t> </a:t>
            </a:r>
            <a:r>
              <a:rPr lang="en-US" sz="2600" dirty="0" err="1">
                <a:ea typeface="+mn-lt"/>
                <a:cs typeface="+mn-lt"/>
              </a:rPr>
              <a:t>ponuda</a:t>
            </a:r>
            <a:r>
              <a:rPr lang="en-US" sz="2600" dirty="0">
                <a:ea typeface="+mn-lt"/>
                <a:cs typeface="+mn-lt"/>
              </a:rPr>
              <a:t> </a:t>
            </a:r>
            <a:r>
              <a:rPr lang="en-US" sz="2600" dirty="0" err="1">
                <a:ea typeface="+mn-lt"/>
                <a:cs typeface="+mn-lt"/>
              </a:rPr>
              <a:t>i</a:t>
            </a:r>
            <a:r>
              <a:rPr lang="en-US" sz="2600" dirty="0">
                <a:ea typeface="+mn-lt"/>
                <a:cs typeface="+mn-lt"/>
              </a:rPr>
              <a:t> </a:t>
            </a:r>
            <a:r>
              <a:rPr lang="en-US" sz="2600" dirty="0" err="1">
                <a:ea typeface="+mn-lt"/>
                <a:cs typeface="+mn-lt"/>
              </a:rPr>
              <a:t>ključne</a:t>
            </a:r>
            <a:r>
              <a:rPr lang="en-US" sz="2600" dirty="0">
                <a:ea typeface="+mn-lt"/>
                <a:cs typeface="+mn-lt"/>
              </a:rPr>
              <a:t> </a:t>
            </a:r>
            <a:r>
              <a:rPr lang="en-US" sz="2600" dirty="0" err="1">
                <a:ea typeface="+mn-lt"/>
                <a:cs typeface="+mn-lt"/>
              </a:rPr>
              <a:t>karakteristike</a:t>
            </a:r>
            <a:r>
              <a:rPr lang="en-US" sz="2600" dirty="0">
                <a:ea typeface="+mn-lt"/>
                <a:cs typeface="+mn-lt"/>
              </a:rPr>
              <a:t> </a:t>
            </a:r>
            <a:r>
              <a:rPr lang="en-US" sz="2600" dirty="0" err="1">
                <a:ea typeface="+mn-lt"/>
                <a:cs typeface="+mn-lt"/>
              </a:rPr>
              <a:t>sistema</a:t>
            </a:r>
            <a:endParaRPr lang="sr-Latn-RS" dirty="0" err="1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02F3B95-FC83-D3CC-3A8A-8AF7197CF684}"/>
              </a:ext>
            </a:extLst>
          </p:cNvPr>
          <p:cNvSpPr/>
          <p:nvPr/>
        </p:nvSpPr>
        <p:spPr>
          <a:xfrm>
            <a:off x="228600" y="960120"/>
            <a:ext cx="2011680" cy="2103120"/>
          </a:xfrm>
          <a:prstGeom prst="rect">
            <a:avLst/>
          </a:prstGeom>
          <a:solidFill>
            <a:srgbClr val="162435"/>
          </a:solidFill>
          <a:ln w="12700">
            <a:solidFill>
              <a:srgbClr val="1B9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AEC16FB-07E2-5F36-9ECA-2175AA5756D7}"/>
              </a:ext>
            </a:extLst>
          </p:cNvPr>
          <p:cNvSpPr/>
          <p:nvPr/>
        </p:nvSpPr>
        <p:spPr>
          <a:xfrm>
            <a:off x="228600" y="960120"/>
            <a:ext cx="2011680" cy="54864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4D6F8D1-50CF-EFF9-A06A-A0EA75FB21F7}"/>
              </a:ext>
            </a:extLst>
          </p:cNvPr>
          <p:cNvSpPr/>
          <p:nvPr/>
        </p:nvSpPr>
        <p:spPr>
          <a:xfrm>
            <a:off x="228600" y="111314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 err="1">
                <a:solidFill>
                  <a:srgbClr val="FFFFFF"/>
                </a:solidFill>
                <a:ea typeface="+mn-lt"/>
                <a:cs typeface="+mn-lt"/>
              </a:rPr>
              <a:t>Vrednosna</a:t>
            </a:r>
            <a:r>
              <a:rPr lang="en-US" sz="13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300" dirty="0" err="1">
                <a:solidFill>
                  <a:srgbClr val="FFFFFF"/>
                </a:solidFill>
                <a:ea typeface="+mn-lt"/>
                <a:cs typeface="+mn-lt"/>
              </a:rPr>
              <a:t>ponuda</a:t>
            </a:r>
            <a:endParaRPr lang="sr-Latn-RS" dirty="0" err="1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FD81F90-7CB1-1F92-20B6-617D3D83E2B1}"/>
              </a:ext>
            </a:extLst>
          </p:cNvPr>
          <p:cNvSpPr/>
          <p:nvPr/>
        </p:nvSpPr>
        <p:spPr>
          <a:xfrm>
            <a:off x="352539" y="1637273"/>
            <a:ext cx="1763801" cy="1363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Povećana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bezbednost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(</a:t>
            </a:r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slika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posetioca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pre </a:t>
            </a:r>
            <a:r>
              <a:rPr lang="en-US" sz="950" err="1">
                <a:solidFill>
                  <a:srgbClr val="94A3B8"/>
                </a:solidFill>
                <a:ea typeface="+mn-lt"/>
                <a:cs typeface="+mn-lt"/>
              </a:rPr>
              <a:t>ulaska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)</a:t>
            </a:r>
            <a:endParaRPr lang="sr-Latn-RS">
              <a:solidFill>
                <a:srgbClr val="FFFFFF"/>
              </a:solidFill>
              <a:ea typeface="+mn-lt"/>
              <a:cs typeface="+mn-lt"/>
            </a:endParaRPr>
          </a:p>
          <a:p>
            <a:pPr algn="ctr"/>
            <a:endParaRPr lang="sr-Latn-RS"/>
          </a:p>
          <a:p>
            <a:pPr algn="ctr"/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Daljinsko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otvaranje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kapije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</a:t>
            </a:r>
            <a:endParaRPr lang="en-US"/>
          </a:p>
          <a:p>
            <a:pPr algn="ctr"/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Kontrola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pristupa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u </a:t>
            </a:r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realnom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vremenu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</a:t>
            </a:r>
            <a:endParaRPr lang="en-US"/>
          </a:p>
          <a:p>
            <a:pPr algn="ctr"/>
            <a:endParaRPr lang="en-US" sz="950">
              <a:solidFill>
                <a:srgbClr val="94A3B8"/>
              </a:solidFill>
              <a:ea typeface="+mn-lt"/>
              <a:cs typeface="+mn-lt"/>
            </a:endParaRPr>
          </a:p>
          <a:p>
            <a:pPr algn="ctr"/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Veći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komfor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za </a:t>
            </a:r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korisnike</a:t>
            </a:r>
            <a:endParaRPr lang="en-US" err="1"/>
          </a:p>
          <a:p>
            <a:pPr marL="0" indent="0" algn="ctr">
              <a:buNone/>
            </a:pPr>
            <a:endParaRPr lang="en-US" sz="950" dirty="0">
              <a:solidFill>
                <a:srgbClr val="94A3B8"/>
              </a:solidFill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EE3524A7-94EB-E514-7F33-DB35A648381C}"/>
              </a:ext>
            </a:extLst>
          </p:cNvPr>
          <p:cNvSpPr/>
          <p:nvPr/>
        </p:nvSpPr>
        <p:spPr>
          <a:xfrm>
            <a:off x="2441448" y="960120"/>
            <a:ext cx="2011680" cy="2103120"/>
          </a:xfrm>
          <a:prstGeom prst="rect">
            <a:avLst/>
          </a:prstGeom>
          <a:solidFill>
            <a:srgbClr val="162435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867A763A-A99F-4F98-5204-2E8C9B74C8C2}"/>
              </a:ext>
            </a:extLst>
          </p:cNvPr>
          <p:cNvSpPr/>
          <p:nvPr/>
        </p:nvSpPr>
        <p:spPr>
          <a:xfrm>
            <a:off x="2441448" y="960120"/>
            <a:ext cx="20116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1DB6CBEC-4234-D3B5-2958-58F84F25D2C1}"/>
              </a:ext>
            </a:extLst>
          </p:cNvPr>
          <p:cNvSpPr/>
          <p:nvPr/>
        </p:nvSpPr>
        <p:spPr>
          <a:xfrm>
            <a:off x="2462105" y="111314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 err="1">
                <a:solidFill>
                  <a:srgbClr val="FFFFFF"/>
                </a:solidFill>
                <a:ea typeface="+mn-lt"/>
                <a:cs typeface="+mn-lt"/>
              </a:rPr>
              <a:t>Ključne</a:t>
            </a:r>
            <a:r>
              <a:rPr lang="en-US" sz="13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300" dirty="0" err="1">
                <a:solidFill>
                  <a:srgbClr val="FFFFFF"/>
                </a:solidFill>
                <a:ea typeface="+mn-lt"/>
                <a:cs typeface="+mn-lt"/>
              </a:rPr>
              <a:t>prednosti</a:t>
            </a:r>
            <a:endParaRPr lang="sr-Latn-RS" dirty="0" err="1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7EC8307C-2D08-43F2-4483-D0433E4B42EE}"/>
              </a:ext>
            </a:extLst>
          </p:cNvPr>
          <p:cNvSpPr/>
          <p:nvPr/>
        </p:nvSpPr>
        <p:spPr>
          <a:xfrm>
            <a:off x="2462104" y="1513333"/>
            <a:ext cx="2011680" cy="161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Jednostavno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korišćenje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(</a:t>
            </a:r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mobilni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/web </a:t>
            </a:r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pristup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) </a:t>
            </a:r>
            <a:endParaRPr lang="sr-Latn-RS"/>
          </a:p>
          <a:p>
            <a:pPr algn="ctr"/>
            <a:endParaRPr lang="en-US" sz="950">
              <a:solidFill>
                <a:srgbClr val="94A3B8"/>
              </a:solidFill>
              <a:ea typeface="+mn-lt"/>
              <a:cs typeface="+mn-lt"/>
            </a:endParaRPr>
          </a:p>
          <a:p>
            <a:pPr algn="ctr"/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Skalabilnost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(</a:t>
            </a:r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više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stanova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i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ulaza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) </a:t>
            </a:r>
            <a:endParaRPr lang="en-US"/>
          </a:p>
          <a:p>
            <a:pPr algn="ctr"/>
            <a:endParaRPr lang="en-US" sz="950">
              <a:solidFill>
                <a:srgbClr val="94A3B8"/>
              </a:solidFill>
              <a:ea typeface="+mn-lt"/>
              <a:cs typeface="+mn-lt"/>
            </a:endParaRPr>
          </a:p>
          <a:p>
            <a:pPr algn="ctr"/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Modularnost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sistema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(</a:t>
            </a:r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lako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proširenje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) </a:t>
            </a:r>
            <a:endParaRPr lang="en-US"/>
          </a:p>
          <a:p>
            <a:pPr algn="ctr"/>
            <a:endParaRPr lang="en-US" sz="950">
              <a:solidFill>
                <a:srgbClr val="94A3B8"/>
              </a:solidFill>
              <a:ea typeface="+mn-lt"/>
              <a:cs typeface="+mn-lt"/>
            </a:endParaRPr>
          </a:p>
          <a:p>
            <a:pPr algn="ctr"/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Niži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troškovi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(</a:t>
            </a:r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jeftin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hardver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+ open-source)</a:t>
            </a:r>
            <a:endParaRPr lang="en-US"/>
          </a:p>
          <a:p>
            <a:pPr algn="ctr"/>
            <a:endParaRPr lang="en-US" sz="950">
              <a:solidFill>
                <a:srgbClr val="94A3B8"/>
              </a:solidFill>
            </a:endParaRP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99CA6F20-1457-F703-EE82-4755F17198FD}"/>
              </a:ext>
            </a:extLst>
          </p:cNvPr>
          <p:cNvSpPr/>
          <p:nvPr/>
        </p:nvSpPr>
        <p:spPr>
          <a:xfrm>
            <a:off x="4654296" y="960120"/>
            <a:ext cx="2011680" cy="2103120"/>
          </a:xfrm>
          <a:prstGeom prst="rect">
            <a:avLst/>
          </a:prstGeom>
          <a:solidFill>
            <a:srgbClr val="162435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04EDA9BA-59EF-1791-EA2E-9EC01616545A}"/>
              </a:ext>
            </a:extLst>
          </p:cNvPr>
          <p:cNvSpPr/>
          <p:nvPr/>
        </p:nvSpPr>
        <p:spPr>
          <a:xfrm>
            <a:off x="4654296" y="960120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F356905B-559F-6056-1ACA-51BA8446ED0B}"/>
              </a:ext>
            </a:extLst>
          </p:cNvPr>
          <p:cNvSpPr/>
          <p:nvPr/>
        </p:nvSpPr>
        <p:spPr>
          <a:xfrm>
            <a:off x="4674953" y="111314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 err="1">
                <a:solidFill>
                  <a:srgbClr val="FFFFFF"/>
                </a:solidFill>
                <a:ea typeface="+mn-lt"/>
                <a:cs typeface="+mn-lt"/>
              </a:rPr>
              <a:t>Tehnološke</a:t>
            </a:r>
            <a:r>
              <a:rPr lang="en-US" sz="13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300" dirty="0" err="1">
                <a:solidFill>
                  <a:srgbClr val="FFFFFF"/>
                </a:solidFill>
                <a:ea typeface="+mn-lt"/>
                <a:cs typeface="+mn-lt"/>
              </a:rPr>
              <a:t>mogućnosti</a:t>
            </a:r>
            <a:endParaRPr lang="sr-Latn-RS" dirty="0" err="1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80390406-3E21-1981-0F7D-A6CFD8EC2BC5}"/>
              </a:ext>
            </a:extLst>
          </p:cNvPr>
          <p:cNvSpPr/>
          <p:nvPr/>
        </p:nvSpPr>
        <p:spPr>
          <a:xfrm>
            <a:off x="4654296" y="1568417"/>
            <a:ext cx="2011680" cy="155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Real-time </a:t>
            </a:r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komunikacija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(MQTT, WebSocket) </a:t>
            </a:r>
            <a:endParaRPr lang="sr-Latn-RS"/>
          </a:p>
          <a:p>
            <a:pPr algn="ctr"/>
            <a:endParaRPr lang="en-US" sz="950">
              <a:solidFill>
                <a:srgbClr val="94A3B8"/>
              </a:solidFill>
              <a:ea typeface="+mn-lt"/>
              <a:cs typeface="+mn-lt"/>
            </a:endParaRPr>
          </a:p>
          <a:p>
            <a:pPr algn="ctr"/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Integracija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sa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drugim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sistemima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(</a:t>
            </a:r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kamere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, </a:t>
            </a:r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alarmi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) </a:t>
            </a:r>
            <a:endParaRPr lang="en-US"/>
          </a:p>
          <a:p>
            <a:pPr algn="ctr"/>
            <a:endParaRPr lang="en-US" sz="950">
              <a:solidFill>
                <a:srgbClr val="94A3B8"/>
              </a:solidFill>
              <a:ea typeface="+mn-lt"/>
              <a:cs typeface="+mn-lt"/>
            </a:endParaRPr>
          </a:p>
          <a:p>
            <a:pPr algn="ctr"/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Cloud </a:t>
            </a:r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i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lokalno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skladištenje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podataka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</a:t>
            </a:r>
            <a:endParaRPr lang="en-US"/>
          </a:p>
          <a:p>
            <a:pPr algn="ctr"/>
            <a:endParaRPr lang="en-US" sz="950">
              <a:solidFill>
                <a:srgbClr val="94A3B8"/>
              </a:solidFill>
              <a:ea typeface="+mn-lt"/>
              <a:cs typeface="+mn-lt"/>
            </a:endParaRPr>
          </a:p>
          <a:p>
            <a:pPr algn="ctr"/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Spremno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za AI </a:t>
            </a:r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funkcionalnosti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(face recognition)</a:t>
            </a:r>
            <a:endParaRPr lang="en-US"/>
          </a:p>
          <a:p>
            <a:pPr marL="0" indent="0" algn="ctr">
              <a:buNone/>
            </a:pPr>
            <a:endParaRPr lang="en-US" sz="950" dirty="0">
              <a:solidFill>
                <a:srgbClr val="94A3B8"/>
              </a:solidFill>
            </a:endParaRPr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8B7F810E-2D81-03B8-23C9-8E120312633F}"/>
              </a:ext>
            </a:extLst>
          </p:cNvPr>
          <p:cNvSpPr/>
          <p:nvPr/>
        </p:nvSpPr>
        <p:spPr>
          <a:xfrm>
            <a:off x="6851445" y="2280767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B9AAA"/>
                </a:solidFill>
              </a:rPr>
              <a:t>▶</a:t>
            </a:r>
            <a:endParaRPr lang="en-US" sz="1000"/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7E8BEFDF-2032-163E-A124-8BC776B7EB54}"/>
              </a:ext>
            </a:extLst>
          </p:cNvPr>
          <p:cNvSpPr/>
          <p:nvPr/>
        </p:nvSpPr>
        <p:spPr>
          <a:xfrm>
            <a:off x="6867144" y="960120"/>
            <a:ext cx="2011680" cy="2103120"/>
          </a:xfrm>
          <a:prstGeom prst="rect">
            <a:avLst/>
          </a:prstGeom>
          <a:solidFill>
            <a:srgbClr val="162435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D4F104EE-F4BE-F4A4-17AA-4B018F7A4929}"/>
              </a:ext>
            </a:extLst>
          </p:cNvPr>
          <p:cNvSpPr/>
          <p:nvPr/>
        </p:nvSpPr>
        <p:spPr>
          <a:xfrm>
            <a:off x="6867144" y="960120"/>
            <a:ext cx="201168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9802CBA1-ADE4-2FDD-0150-2E7A84D46116}"/>
              </a:ext>
            </a:extLst>
          </p:cNvPr>
          <p:cNvSpPr/>
          <p:nvPr/>
        </p:nvSpPr>
        <p:spPr>
          <a:xfrm>
            <a:off x="6846487" y="111314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 err="1">
                <a:solidFill>
                  <a:srgbClr val="FFFFFF"/>
                </a:solidFill>
                <a:ea typeface="+mn-lt"/>
                <a:cs typeface="+mn-lt"/>
              </a:rPr>
              <a:t>Ciljni</a:t>
            </a:r>
            <a:r>
              <a:rPr lang="en-US" sz="13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300" dirty="0" err="1">
                <a:solidFill>
                  <a:srgbClr val="FFFFFF"/>
                </a:solidFill>
                <a:ea typeface="+mn-lt"/>
                <a:cs typeface="+mn-lt"/>
              </a:rPr>
              <a:t>korisnici</a:t>
            </a:r>
            <a:endParaRPr lang="sr-Latn-RS" dirty="0" err="1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DCD16D00-9B92-2623-304F-C6B644251783}"/>
              </a:ext>
            </a:extLst>
          </p:cNvPr>
          <p:cNvSpPr/>
          <p:nvPr/>
        </p:nvSpPr>
        <p:spPr>
          <a:xfrm>
            <a:off x="6874029" y="1568416"/>
            <a:ext cx="2004795" cy="1501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Stambene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zgrade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i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950" err="1">
                <a:solidFill>
                  <a:srgbClr val="94A3B8"/>
                </a:solidFill>
                <a:ea typeface="+mn-lt"/>
                <a:cs typeface="+mn-lt"/>
              </a:rPr>
              <a:t>upravnici</a:t>
            </a:r>
            <a:endParaRPr lang="sr-Latn-RS" err="1">
              <a:solidFill>
                <a:srgbClr val="FFFFFF"/>
              </a:solidFill>
              <a:ea typeface="+mn-lt"/>
              <a:cs typeface="+mn-lt"/>
            </a:endParaRPr>
          </a:p>
          <a:p>
            <a:pPr algn="ctr"/>
            <a:endParaRPr lang="sr-Latn-RS"/>
          </a:p>
          <a:p>
            <a:pPr algn="ctr"/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Poslovni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objekti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i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kancelarije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</a:t>
            </a:r>
            <a:endParaRPr lang="en-US"/>
          </a:p>
          <a:p>
            <a:pPr algn="ctr"/>
            <a:endParaRPr lang="en-US" sz="950">
              <a:solidFill>
                <a:srgbClr val="94A3B8"/>
              </a:solidFill>
              <a:ea typeface="+mn-lt"/>
              <a:cs typeface="+mn-lt"/>
            </a:endParaRPr>
          </a:p>
          <a:p>
            <a:pPr algn="ctr"/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Privatne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kuće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</a:t>
            </a:r>
            <a:endParaRPr lang="en-US"/>
          </a:p>
          <a:p>
            <a:pPr algn="ctr"/>
            <a:endParaRPr lang="en-US" sz="950">
              <a:solidFill>
                <a:srgbClr val="94A3B8"/>
              </a:solidFill>
              <a:ea typeface="+mn-lt"/>
              <a:cs typeface="+mn-lt"/>
            </a:endParaRPr>
          </a:p>
          <a:p>
            <a:pPr algn="ctr"/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Co-working </a:t>
            </a:r>
            <a:r>
              <a:rPr lang="en-US" sz="950" dirty="0" err="1">
                <a:solidFill>
                  <a:srgbClr val="94A3B8"/>
                </a:solidFill>
                <a:ea typeface="+mn-lt"/>
                <a:cs typeface="+mn-lt"/>
              </a:rPr>
              <a:t>prostori</a:t>
            </a:r>
            <a:r>
              <a:rPr lang="en-US" sz="950" dirty="0">
                <a:solidFill>
                  <a:srgbClr val="94A3B8"/>
                </a:solidFill>
                <a:ea typeface="+mn-lt"/>
                <a:cs typeface="+mn-lt"/>
              </a:rPr>
              <a:t> </a:t>
            </a:r>
            <a:endParaRPr lang="en-US"/>
          </a:p>
          <a:p>
            <a:pPr marL="0" indent="0" algn="ctr">
              <a:buNone/>
            </a:pPr>
            <a:endParaRPr lang="en-US" sz="950" dirty="0">
              <a:solidFill>
                <a:srgbClr val="94A3B8"/>
              </a:solidFill>
            </a:endParaRPr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E4387411-7048-024A-626B-57684432051A}"/>
              </a:ext>
            </a:extLst>
          </p:cNvPr>
          <p:cNvSpPr/>
          <p:nvPr/>
        </p:nvSpPr>
        <p:spPr>
          <a:xfrm>
            <a:off x="228600" y="312724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>
              <a:solidFill>
                <a:srgbClr val="94A3B8"/>
              </a:solidFill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8749B63D-E78B-4AE9-E4F3-736D2B3F6B26}"/>
              </a:ext>
            </a:extLst>
          </p:cNvPr>
          <p:cNvSpPr/>
          <p:nvPr/>
        </p:nvSpPr>
        <p:spPr>
          <a:xfrm>
            <a:off x="2441448" y="312724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>
              <a:solidFill>
                <a:srgbClr val="94A3B8"/>
              </a:solidFill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15229460-1162-BA28-0262-78AC6E679A6C}"/>
              </a:ext>
            </a:extLst>
          </p:cNvPr>
          <p:cNvSpPr/>
          <p:nvPr/>
        </p:nvSpPr>
        <p:spPr>
          <a:xfrm>
            <a:off x="3672253" y="381580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>
              <a:solidFill>
                <a:srgbClr val="94A3B8"/>
              </a:solidFill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3C6CF874-CA69-4666-CEAF-0F56E4C3A030}"/>
              </a:ext>
            </a:extLst>
          </p:cNvPr>
          <p:cNvSpPr/>
          <p:nvPr/>
        </p:nvSpPr>
        <p:spPr>
          <a:xfrm>
            <a:off x="250637" y="3527877"/>
            <a:ext cx="8642729" cy="1421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>
                <a:solidFill>
                  <a:schemeClr val="accent2"/>
                </a:solidFill>
              </a:rPr>
              <a:t>SmartGate predstavlja moderno IoT rešenje koje unapređuje kontrolu pristupa kroz kombinaciju bezbednosti, jednostavnosti i fleksibilnosti. Sistem omogućava korisnicima veću kontrolu i pregled nad ulazima, uz niže troškove i mogućnost daljeg razvoja i integracije. Na taj način, SmartGate se pozicionira kao efikasna i skalabilna alternativa tradicionalnim interfon sistemima.</a:t>
            </a:r>
            <a:endParaRPr lang="en-US" i="1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0020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68FC59-0ADD-A4C2-FCD3-0B3E34808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873B00B-7396-95BA-844A-2FE04129BB65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6ED3207-00D5-BA9A-BCB5-F9F50ECE3C65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dirty="0" err="1">
                <a:solidFill>
                  <a:srgbClr val="FFFFFF"/>
                </a:solidFill>
                <a:ea typeface="+mn-lt"/>
                <a:cs typeface="+mn-lt"/>
              </a:rPr>
              <a:t>SmartGate</a:t>
            </a:r>
            <a:r>
              <a:rPr lang="en-US" sz="2600" dirty="0">
                <a:solidFill>
                  <a:srgbClr val="FFFFFF"/>
                </a:solidFill>
                <a:ea typeface="+mn-lt"/>
                <a:cs typeface="+mn-lt"/>
              </a:rPr>
              <a:t> – Business Model</a:t>
            </a:r>
            <a:endParaRPr lang="sr-Latn-RS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07BB125-85C1-9C20-FF31-D3021959EDF4}"/>
              </a:ext>
            </a:extLst>
          </p:cNvPr>
          <p:cNvSpPr/>
          <p:nvPr/>
        </p:nvSpPr>
        <p:spPr>
          <a:xfrm>
            <a:off x="274320" y="987662"/>
            <a:ext cx="3514380" cy="166409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1980826-93E1-A34D-0C91-A44E7977FD6D}"/>
              </a:ext>
            </a:extLst>
          </p:cNvPr>
          <p:cNvSpPr/>
          <p:nvPr/>
        </p:nvSpPr>
        <p:spPr>
          <a:xfrm>
            <a:off x="274320" y="932578"/>
            <a:ext cx="3514380" cy="54864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3D6D9DD-6783-8DD7-F8A6-7CA4D5080CD6}"/>
              </a:ext>
            </a:extLst>
          </p:cNvPr>
          <p:cNvSpPr/>
          <p:nvPr/>
        </p:nvSpPr>
        <p:spPr>
          <a:xfrm>
            <a:off x="384048" y="1106424"/>
            <a:ext cx="384048" cy="384048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AF9B344-D91F-ACAF-3066-EEBDE3B4BCC1}"/>
              </a:ext>
            </a:extLst>
          </p:cNvPr>
          <p:cNvSpPr/>
          <p:nvPr/>
        </p:nvSpPr>
        <p:spPr>
          <a:xfrm>
            <a:off x="384048" y="1106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1</a:t>
            </a:r>
            <a:endParaRPr lang="en-US" sz="14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EE19104-5FF2-4564-3D3C-D0950895C6DC}"/>
              </a:ext>
            </a:extLst>
          </p:cNvPr>
          <p:cNvSpPr/>
          <p:nvPr/>
        </p:nvSpPr>
        <p:spPr>
          <a:xfrm>
            <a:off x="896332" y="1099539"/>
            <a:ext cx="27553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1E293B"/>
                </a:solidFill>
                <a:ea typeface="+mn-lt"/>
                <a:cs typeface="+mn-lt"/>
              </a:rPr>
              <a:t>Infrastruktura</a:t>
            </a:r>
            <a:r>
              <a:rPr lang="en-US" sz="1400" b="1" dirty="0">
                <a:solidFill>
                  <a:srgbClr val="1E293B"/>
                </a:solidFill>
                <a:ea typeface="+mn-lt"/>
                <a:cs typeface="+mn-lt"/>
              </a:rPr>
              <a:t> (Kako </a:t>
            </a:r>
            <a:r>
              <a:rPr lang="en-US" sz="1400" b="1" dirty="0" err="1">
                <a:solidFill>
                  <a:srgbClr val="1E293B"/>
                </a:solidFill>
                <a:ea typeface="+mn-lt"/>
                <a:cs typeface="+mn-lt"/>
              </a:rPr>
              <a:t>radimo</a:t>
            </a:r>
            <a:r>
              <a:rPr lang="en-US" sz="1400" b="1" dirty="0">
                <a:solidFill>
                  <a:srgbClr val="1E293B"/>
                </a:solidFill>
                <a:ea typeface="+mn-lt"/>
                <a:cs typeface="+mn-lt"/>
              </a:rPr>
              <a:t>)</a:t>
            </a:r>
            <a:endParaRPr lang="sr-Latn-RS" b="1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C3BE489-3362-D4EE-8A09-DA9C7FF9D950}"/>
              </a:ext>
            </a:extLst>
          </p:cNvPr>
          <p:cNvSpPr/>
          <p:nvPr/>
        </p:nvSpPr>
        <p:spPr>
          <a:xfrm>
            <a:off x="384048" y="1581912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/>
              <a:buChar char="•"/>
            </a:pPr>
            <a:r>
              <a:rPr lang="en-US" sz="1000" err="1">
                <a:solidFill>
                  <a:srgbClr val="1E293B"/>
                </a:solidFill>
                <a:ea typeface="+mn-lt"/>
                <a:cs typeface="+mn-lt"/>
              </a:rPr>
              <a:t>Partneri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: </a:t>
            </a: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hardver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, </a:t>
            </a: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instalateri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, IoT </a:t>
            </a: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zajednica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 </a:t>
            </a:r>
            <a:endParaRPr lang="sr-Latn-RS" sz="1000"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Aktivnosti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: </a:t>
            </a: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razvoj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, </a:t>
            </a: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instalacija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, </a:t>
            </a: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održavanje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 </a:t>
            </a:r>
            <a:endParaRPr lang="en-US" sz="1000"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Resursi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: </a:t>
            </a: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softver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, </a:t>
            </a: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tim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, </a:t>
            </a: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hardver</a:t>
            </a:r>
            <a:endParaRPr lang="en-US" err="1"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endParaRPr lang="en-US" sz="1000">
              <a:solidFill>
                <a:srgbClr val="1E293B"/>
              </a:solidFill>
            </a:endParaRPr>
          </a:p>
          <a:p>
            <a:pPr marL="171450" indent="-171450">
              <a:buFont typeface="Arial"/>
              <a:buChar char="•"/>
            </a:pPr>
            <a:endParaRPr lang="en-US" sz="1000">
              <a:solidFill>
                <a:srgbClr val="1E293B"/>
              </a:solidFill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C695853-B015-A60A-6953-E5FA71873EFA}"/>
              </a:ext>
            </a:extLst>
          </p:cNvPr>
          <p:cNvSpPr/>
          <p:nvPr/>
        </p:nvSpPr>
        <p:spPr>
          <a:xfrm>
            <a:off x="3714006" y="120282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b="1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C48B6F2-5C21-87D4-1B18-BBA6F1072DF1}"/>
              </a:ext>
            </a:extLst>
          </p:cNvPr>
          <p:cNvSpPr/>
          <p:nvPr/>
        </p:nvSpPr>
        <p:spPr>
          <a:xfrm>
            <a:off x="3328416" y="1581912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solidFill>
                <a:srgbClr val="1E293B"/>
              </a:solidFill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5BA463A-44BE-9B28-DEE8-0BBB6FDE9F38}"/>
              </a:ext>
            </a:extLst>
          </p:cNvPr>
          <p:cNvSpPr/>
          <p:nvPr/>
        </p:nvSpPr>
        <p:spPr>
          <a:xfrm>
            <a:off x="5254165" y="987662"/>
            <a:ext cx="3652091" cy="166409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90EEC67-4E24-A332-D648-6B8CD71C6A88}"/>
              </a:ext>
            </a:extLst>
          </p:cNvPr>
          <p:cNvSpPr/>
          <p:nvPr/>
        </p:nvSpPr>
        <p:spPr>
          <a:xfrm>
            <a:off x="5254165" y="932578"/>
            <a:ext cx="3652091" cy="54864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1A5EEF9-E2A0-960E-F446-B6E4E47B5384}"/>
              </a:ext>
            </a:extLst>
          </p:cNvPr>
          <p:cNvSpPr/>
          <p:nvPr/>
        </p:nvSpPr>
        <p:spPr>
          <a:xfrm>
            <a:off x="5412091" y="1106424"/>
            <a:ext cx="384048" cy="384048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94D7FC1-69BC-9546-BEAC-326A2FBACD6E}"/>
              </a:ext>
            </a:extLst>
          </p:cNvPr>
          <p:cNvSpPr/>
          <p:nvPr/>
        </p:nvSpPr>
        <p:spPr>
          <a:xfrm>
            <a:off x="5412091" y="109953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/>
              <a:t>2</a:t>
            </a:r>
            <a:endParaRPr lang="en-US" sz="1400" b="1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56AE80B-AF96-65FA-CA81-797AD46EBDB0}"/>
              </a:ext>
            </a:extLst>
          </p:cNvPr>
          <p:cNvSpPr/>
          <p:nvPr/>
        </p:nvSpPr>
        <p:spPr>
          <a:xfrm>
            <a:off x="5965688" y="1099538"/>
            <a:ext cx="2438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1E293B"/>
                </a:solidFill>
                <a:ea typeface="+mn-lt"/>
                <a:cs typeface="+mn-lt"/>
              </a:rPr>
              <a:t>Vrednost</a:t>
            </a:r>
            <a:r>
              <a:rPr lang="en-US" sz="1400" b="1" dirty="0">
                <a:solidFill>
                  <a:srgbClr val="1E293B"/>
                </a:solidFill>
                <a:ea typeface="+mn-lt"/>
                <a:cs typeface="+mn-lt"/>
              </a:rPr>
              <a:t> (</a:t>
            </a:r>
            <a:r>
              <a:rPr lang="en-US" sz="1400" b="1" dirty="0" err="1">
                <a:solidFill>
                  <a:srgbClr val="1E293B"/>
                </a:solidFill>
                <a:ea typeface="+mn-lt"/>
                <a:cs typeface="+mn-lt"/>
              </a:rPr>
              <a:t>Šta</a:t>
            </a:r>
            <a:r>
              <a:rPr lang="en-US" sz="1400" b="1" dirty="0">
                <a:solidFill>
                  <a:srgbClr val="1E293B"/>
                </a:solidFill>
                <a:ea typeface="+mn-lt"/>
                <a:cs typeface="+mn-lt"/>
              </a:rPr>
              <a:t> </a:t>
            </a:r>
            <a:r>
              <a:rPr lang="en-US" sz="1400" b="1" dirty="0" err="1">
                <a:solidFill>
                  <a:srgbClr val="1E293B"/>
                </a:solidFill>
                <a:ea typeface="+mn-lt"/>
                <a:cs typeface="+mn-lt"/>
              </a:rPr>
              <a:t>nudimo</a:t>
            </a:r>
            <a:r>
              <a:rPr lang="en-US" sz="1400" b="1" dirty="0">
                <a:solidFill>
                  <a:srgbClr val="1E293B"/>
                </a:solidFill>
                <a:ea typeface="+mn-lt"/>
                <a:cs typeface="+mn-lt"/>
              </a:rPr>
              <a:t>)</a:t>
            </a:r>
            <a:endParaRPr lang="sr-Latn-RS" b="1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E80C6D2-9382-6AC0-269A-FC3A162F164C}"/>
              </a:ext>
            </a:extLst>
          </p:cNvPr>
          <p:cNvSpPr/>
          <p:nvPr/>
        </p:nvSpPr>
        <p:spPr>
          <a:xfrm>
            <a:off x="5549802" y="1581912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/>
              <a:buChar char="•"/>
            </a:pP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Sigurna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 </a:t>
            </a: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kontrola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 </a:t>
            </a: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pristupa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 (</a:t>
            </a: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slika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 + </a:t>
            </a: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verifikacija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) </a:t>
            </a:r>
            <a:endParaRPr lang="sr-Latn-RS" sz="1000"/>
          </a:p>
          <a:p>
            <a:pPr marL="171450" indent="-171450">
              <a:buFont typeface="Arial"/>
              <a:buChar char="•"/>
            </a:pP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Daljinsko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 </a:t>
            </a: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otvaranje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 </a:t>
            </a: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kapije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 </a:t>
            </a:r>
            <a:endParaRPr lang="en-US" sz="1000"/>
          </a:p>
          <a:p>
            <a:pPr marL="171450" indent="-171450">
              <a:buFont typeface="Arial"/>
              <a:buChar char="•"/>
            </a:pP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Skalabilno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 </a:t>
            </a: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i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 </a:t>
            </a: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jednostavno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 </a:t>
            </a: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rešenje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 </a:t>
            </a:r>
            <a:endParaRPr lang="en-US" sz="1000"/>
          </a:p>
          <a:p>
            <a:pPr marL="171450" indent="-171450">
              <a:buFont typeface="Arial"/>
              <a:buChar char="•"/>
            </a:pP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Niži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 </a:t>
            </a: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troškovi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 (open-source + </a:t>
            </a: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jeftin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 </a:t>
            </a: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hardver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)</a:t>
            </a:r>
            <a:endParaRPr lang="en-US" sz="1000"/>
          </a:p>
          <a:p>
            <a:pPr marL="171450" indent="-171450">
              <a:buFont typeface="Arial"/>
              <a:buChar char="•"/>
            </a:pPr>
            <a:endParaRPr lang="en-US" sz="1100">
              <a:solidFill>
                <a:srgbClr val="1E293B"/>
              </a:solidFill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FF87CC5-B278-7589-4437-7EF17461B88E}"/>
              </a:ext>
            </a:extLst>
          </p:cNvPr>
          <p:cNvSpPr/>
          <p:nvPr/>
        </p:nvSpPr>
        <p:spPr>
          <a:xfrm>
            <a:off x="384048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b="1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79B14D0-C47D-E9F7-F8AA-3C26C50958CB}"/>
              </a:ext>
            </a:extLst>
          </p:cNvPr>
          <p:cNvSpPr/>
          <p:nvPr/>
        </p:nvSpPr>
        <p:spPr>
          <a:xfrm>
            <a:off x="841248" y="302666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b="1" dirty="0">
              <a:solidFill>
                <a:srgbClr val="1E293B"/>
              </a:solidFill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5DB6876-FDB4-E84D-617F-24C49AC90AD4}"/>
              </a:ext>
            </a:extLst>
          </p:cNvPr>
          <p:cNvSpPr/>
          <p:nvPr/>
        </p:nvSpPr>
        <p:spPr>
          <a:xfrm>
            <a:off x="384048" y="3502152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solidFill>
                <a:srgbClr val="1E293B"/>
              </a:solidFill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FF4BE18E-2B01-8033-F26F-A7CE7F3E0BF0}"/>
              </a:ext>
            </a:extLst>
          </p:cNvPr>
          <p:cNvSpPr/>
          <p:nvPr/>
        </p:nvSpPr>
        <p:spPr>
          <a:xfrm>
            <a:off x="271676" y="3031843"/>
            <a:ext cx="3507495" cy="171229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70C0DD82-17E3-A939-27DD-504AB179F1E7}"/>
              </a:ext>
            </a:extLst>
          </p:cNvPr>
          <p:cNvSpPr/>
          <p:nvPr/>
        </p:nvSpPr>
        <p:spPr>
          <a:xfrm>
            <a:off x="271676" y="2969872"/>
            <a:ext cx="3507495" cy="6175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976E87CE-A547-E116-DCBC-96BD7A3715BC}"/>
              </a:ext>
            </a:extLst>
          </p:cNvPr>
          <p:cNvSpPr/>
          <p:nvPr/>
        </p:nvSpPr>
        <p:spPr>
          <a:xfrm>
            <a:off x="367633" y="3123062"/>
            <a:ext cx="384048" cy="384048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564EAC6D-8208-4343-43F4-22935D04742D}"/>
              </a:ext>
            </a:extLst>
          </p:cNvPr>
          <p:cNvSpPr/>
          <p:nvPr/>
        </p:nvSpPr>
        <p:spPr>
          <a:xfrm>
            <a:off x="381404" y="312306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/>
              <a:t>3</a:t>
            </a:r>
            <a:endParaRPr lang="en-US" sz="1400" b="1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0B0CF7DA-01E9-C64D-B35D-4B4DF4B3DD03}"/>
              </a:ext>
            </a:extLst>
          </p:cNvPr>
          <p:cNvSpPr/>
          <p:nvPr/>
        </p:nvSpPr>
        <p:spPr>
          <a:xfrm>
            <a:off x="893689" y="3123062"/>
            <a:ext cx="28241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1E293B"/>
                </a:solidFill>
                <a:ea typeface="+mn-lt"/>
                <a:cs typeface="+mn-lt"/>
              </a:rPr>
              <a:t>Kupci</a:t>
            </a:r>
            <a:r>
              <a:rPr lang="en-US" sz="1400" b="1" dirty="0">
                <a:solidFill>
                  <a:srgbClr val="1E293B"/>
                </a:solidFill>
                <a:ea typeface="+mn-lt"/>
                <a:cs typeface="+mn-lt"/>
              </a:rPr>
              <a:t> </a:t>
            </a:r>
            <a:r>
              <a:rPr lang="en-US" sz="1400" b="1" dirty="0" err="1">
                <a:solidFill>
                  <a:srgbClr val="1E293B"/>
                </a:solidFill>
                <a:ea typeface="+mn-lt"/>
                <a:cs typeface="+mn-lt"/>
              </a:rPr>
              <a:t>i</a:t>
            </a:r>
            <a:r>
              <a:rPr lang="en-US" sz="1400" b="1" dirty="0">
                <a:solidFill>
                  <a:srgbClr val="1E293B"/>
                </a:solidFill>
                <a:ea typeface="+mn-lt"/>
                <a:cs typeface="+mn-lt"/>
              </a:rPr>
              <a:t> </a:t>
            </a:r>
            <a:r>
              <a:rPr lang="en-US" sz="1400" b="1" dirty="0" err="1">
                <a:solidFill>
                  <a:srgbClr val="1E293B"/>
                </a:solidFill>
                <a:ea typeface="+mn-lt"/>
                <a:cs typeface="+mn-lt"/>
              </a:rPr>
              <a:t>tržište</a:t>
            </a:r>
            <a:r>
              <a:rPr lang="en-US" sz="1400" b="1" dirty="0">
                <a:solidFill>
                  <a:srgbClr val="1E293B"/>
                </a:solidFill>
                <a:ea typeface="+mn-lt"/>
                <a:cs typeface="+mn-lt"/>
              </a:rPr>
              <a:t> (Kome </a:t>
            </a:r>
            <a:r>
              <a:rPr lang="en-US" sz="1400" b="1" dirty="0" err="1">
                <a:solidFill>
                  <a:srgbClr val="1E293B"/>
                </a:solidFill>
                <a:ea typeface="+mn-lt"/>
                <a:cs typeface="+mn-lt"/>
              </a:rPr>
              <a:t>prodajemo</a:t>
            </a:r>
            <a:r>
              <a:rPr lang="en-US" sz="1400" b="1" dirty="0">
                <a:solidFill>
                  <a:srgbClr val="1E293B"/>
                </a:solidFill>
                <a:ea typeface="+mn-lt"/>
                <a:cs typeface="+mn-lt"/>
              </a:rPr>
              <a:t>)</a:t>
            </a:r>
            <a:endParaRPr lang="sr-Latn-RS" b="1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D23C503A-E511-3A94-8909-E1BA8B41B133}"/>
              </a:ext>
            </a:extLst>
          </p:cNvPr>
          <p:cNvSpPr/>
          <p:nvPr/>
        </p:nvSpPr>
        <p:spPr>
          <a:xfrm>
            <a:off x="753223" y="3502152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/>
              <a:buChar char="•"/>
            </a:pPr>
            <a:r>
              <a:rPr lang="sr-Latn-RS" sz="1000">
                <a:solidFill>
                  <a:srgbClr val="000000"/>
                </a:solidFill>
              </a:rPr>
              <a:t>Stambene zgrade i upravnici </a:t>
            </a:r>
            <a:endParaRPr lang="sr-Latn-RS" sz="1000"/>
          </a:p>
          <a:p>
            <a:pPr marL="171450" indent="-171450">
              <a:buFont typeface="Arial"/>
              <a:buChar char="•"/>
            </a:pPr>
            <a:r>
              <a:rPr lang="sr-Latn-RS" sz="1000">
                <a:solidFill>
                  <a:srgbClr val="000000"/>
                </a:solidFill>
              </a:rPr>
              <a:t>Firme i kancelarije </a:t>
            </a:r>
            <a:endParaRPr lang="sr-Latn-RS" sz="1000"/>
          </a:p>
          <a:p>
            <a:pPr marL="171450" indent="-171450">
              <a:buFont typeface="Arial"/>
              <a:buChar char="•"/>
            </a:pPr>
            <a:r>
              <a:rPr lang="sr-Latn-RS" sz="1000">
                <a:solidFill>
                  <a:srgbClr val="000000"/>
                </a:solidFill>
              </a:rPr>
              <a:t>Privatne kuće </a:t>
            </a:r>
            <a:endParaRPr lang="sr-Latn-RS" sz="1000"/>
          </a:p>
          <a:p>
            <a:pPr marL="171450" indent="-171450">
              <a:buFont typeface="Arial"/>
              <a:buChar char="•"/>
            </a:pPr>
            <a:r>
              <a:rPr lang="sr-Latn-RS" sz="1000">
                <a:solidFill>
                  <a:srgbClr val="000000"/>
                </a:solidFill>
              </a:rPr>
              <a:t>Co-working prostori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63F65043-94FA-3445-CDD3-39C5ED6981C1}"/>
              </a:ext>
            </a:extLst>
          </p:cNvPr>
          <p:cNvSpPr/>
          <p:nvPr/>
        </p:nvSpPr>
        <p:spPr>
          <a:xfrm>
            <a:off x="5254164" y="3024957"/>
            <a:ext cx="3624549" cy="171918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906D8A39-94D7-0BDD-2504-EC951D0EF55A}"/>
              </a:ext>
            </a:extLst>
          </p:cNvPr>
          <p:cNvSpPr/>
          <p:nvPr/>
        </p:nvSpPr>
        <p:spPr>
          <a:xfrm>
            <a:off x="5254164" y="2969872"/>
            <a:ext cx="3624549" cy="6175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E2BB98A9-1A88-0022-A8F3-C70A945F9A61}"/>
              </a:ext>
            </a:extLst>
          </p:cNvPr>
          <p:cNvSpPr/>
          <p:nvPr/>
        </p:nvSpPr>
        <p:spPr>
          <a:xfrm>
            <a:off x="5357007" y="3123062"/>
            <a:ext cx="384048" cy="384048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29017D12-B1B2-9A71-BC37-030CA3F7E565}"/>
              </a:ext>
            </a:extLst>
          </p:cNvPr>
          <p:cNvSpPr/>
          <p:nvPr/>
        </p:nvSpPr>
        <p:spPr>
          <a:xfrm>
            <a:off x="5357007" y="312306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/>
              <a:t>4</a:t>
            </a:r>
            <a:endParaRPr lang="en-US" sz="1400" b="1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AD881D5D-D691-EF7B-CF08-C639BFA20B09}"/>
              </a:ext>
            </a:extLst>
          </p:cNvPr>
          <p:cNvSpPr/>
          <p:nvPr/>
        </p:nvSpPr>
        <p:spPr>
          <a:xfrm>
            <a:off x="5965689" y="3123062"/>
            <a:ext cx="2500553" cy="41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1E293B"/>
                </a:solidFill>
                <a:ea typeface="+mn-lt"/>
                <a:cs typeface="+mn-lt"/>
              </a:rPr>
              <a:t>Finansije</a:t>
            </a:r>
            <a:r>
              <a:rPr lang="en-US" sz="1400" b="1" dirty="0">
                <a:solidFill>
                  <a:srgbClr val="1E293B"/>
                </a:solidFill>
                <a:ea typeface="+mn-lt"/>
                <a:cs typeface="+mn-lt"/>
              </a:rPr>
              <a:t> (Kako </a:t>
            </a:r>
            <a:r>
              <a:rPr lang="en-US" sz="1400" b="1" dirty="0" err="1">
                <a:solidFill>
                  <a:srgbClr val="1E293B"/>
                </a:solidFill>
                <a:ea typeface="+mn-lt"/>
                <a:cs typeface="+mn-lt"/>
              </a:rPr>
              <a:t>zarađujemo</a:t>
            </a:r>
            <a:r>
              <a:rPr lang="en-US" sz="1400" b="1" dirty="0">
                <a:solidFill>
                  <a:srgbClr val="1E293B"/>
                </a:solidFill>
                <a:ea typeface="+mn-lt"/>
                <a:cs typeface="+mn-lt"/>
              </a:rPr>
              <a:t>)</a:t>
            </a:r>
            <a:endParaRPr lang="sr-Latn-RS" b="1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AF6AC47B-58E1-0566-7EDC-B225BA5A51AB}"/>
              </a:ext>
            </a:extLst>
          </p:cNvPr>
          <p:cNvSpPr/>
          <p:nvPr/>
        </p:nvSpPr>
        <p:spPr>
          <a:xfrm>
            <a:off x="5852766" y="3715604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/>
              <a:buChar char="•"/>
            </a:pP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Prodaja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 </a:t>
            </a: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uređaja</a:t>
            </a:r>
            <a:endParaRPr lang="sr-Latn-RS" sz="1000"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SaaS </a:t>
            </a: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pretplata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 (cloud, </a:t>
            </a: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istorija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, video)</a:t>
            </a:r>
            <a:endParaRPr lang="en-US" sz="1000"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Premium </a:t>
            </a: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funkcije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 (AI, </a:t>
            </a: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napredne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 </a:t>
            </a: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opcije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)</a:t>
            </a:r>
            <a:endParaRPr lang="en-US" sz="1000"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Enterprise </a:t>
            </a: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licence</a:t>
            </a:r>
            <a:endParaRPr lang="en-US" sz="1000"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Troškovi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: </a:t>
            </a: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hardver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, </a:t>
            </a: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razvoj</a:t>
            </a:r>
            <a:r>
              <a:rPr lang="en-US" sz="1000" dirty="0">
                <a:solidFill>
                  <a:srgbClr val="1E293B"/>
                </a:solidFill>
                <a:ea typeface="+mn-lt"/>
                <a:cs typeface="+mn-lt"/>
              </a:rPr>
              <a:t>, hosting, </a:t>
            </a:r>
            <a:r>
              <a:rPr lang="en-US" sz="1000" dirty="0" err="1">
                <a:solidFill>
                  <a:srgbClr val="1E293B"/>
                </a:solidFill>
                <a:ea typeface="+mn-lt"/>
                <a:cs typeface="+mn-lt"/>
              </a:rPr>
              <a:t>podrška</a:t>
            </a:r>
            <a:endParaRPr lang="en-US" sz="1000"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endParaRPr lang="en-US" sz="1100">
              <a:solidFill>
                <a:srgbClr val="1E29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1863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778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</a:rPr>
              <a:t>Arhitektura Sistema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011680" cy="2103120"/>
          </a:xfrm>
          <a:prstGeom prst="rect">
            <a:avLst/>
          </a:prstGeom>
          <a:solidFill>
            <a:srgbClr val="162435"/>
          </a:solidFill>
          <a:ln w="12700">
            <a:solidFill>
              <a:srgbClr val="1B9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2011680" cy="54864"/>
          </a:xfrm>
          <a:prstGeom prst="rect">
            <a:avLst/>
          </a:prstGeom>
          <a:solidFill>
            <a:srgbClr val="1B9AA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0972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17190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IoT Sloj</a:t>
            </a:r>
            <a:endParaRPr lang="en-US" sz="1300"/>
          </a:p>
        </p:txBody>
      </p:sp>
      <p:sp>
        <p:nvSpPr>
          <p:cNvPr id="8" name="Text 5"/>
          <p:cNvSpPr/>
          <p:nvPr/>
        </p:nvSpPr>
        <p:spPr>
          <a:xfrm>
            <a:off x="228600" y="20848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94A3B8"/>
                </a:solidFill>
              </a:rPr>
              <a:t>Raspberry Pi + Python</a:t>
            </a:r>
            <a:endParaRPr lang="en-US" sz="950"/>
          </a:p>
        </p:txBody>
      </p:sp>
      <p:sp>
        <p:nvSpPr>
          <p:cNvPr id="9" name="Shape 6"/>
          <p:cNvSpPr/>
          <p:nvPr/>
        </p:nvSpPr>
        <p:spPr>
          <a:xfrm>
            <a:off x="2258568" y="1965960"/>
            <a:ext cx="164592" cy="36576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10" name="Text 7"/>
          <p:cNvSpPr/>
          <p:nvPr/>
        </p:nvSpPr>
        <p:spPr>
          <a:xfrm>
            <a:off x="2350008" y="187452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B9AAA"/>
                </a:solidFill>
              </a:rPr>
              <a:t>▶</a:t>
            </a:r>
            <a:endParaRPr lang="en-US" sz="1000"/>
          </a:p>
        </p:txBody>
      </p:sp>
      <p:sp>
        <p:nvSpPr>
          <p:cNvPr id="11" name="Shape 8"/>
          <p:cNvSpPr/>
          <p:nvPr/>
        </p:nvSpPr>
        <p:spPr>
          <a:xfrm>
            <a:off x="2441448" y="960120"/>
            <a:ext cx="2011680" cy="2103120"/>
          </a:xfrm>
          <a:prstGeom prst="rect">
            <a:avLst/>
          </a:prstGeom>
          <a:solidFill>
            <a:srgbClr val="162435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41448" y="960120"/>
            <a:ext cx="2011680" cy="54864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2968" y="109728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41448" y="17190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MQTT Broker</a:t>
            </a:r>
            <a:endParaRPr lang="en-US" sz="1300"/>
          </a:p>
        </p:txBody>
      </p:sp>
      <p:sp>
        <p:nvSpPr>
          <p:cNvPr id="15" name="Text 11"/>
          <p:cNvSpPr/>
          <p:nvPr/>
        </p:nvSpPr>
        <p:spPr>
          <a:xfrm>
            <a:off x="2441448" y="20848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94A3B8"/>
                </a:solidFill>
              </a:rPr>
              <a:t>Mosquitto  |  port 1883</a:t>
            </a:r>
            <a:endParaRPr lang="en-US" sz="950"/>
          </a:p>
        </p:txBody>
      </p:sp>
      <p:sp>
        <p:nvSpPr>
          <p:cNvPr id="16" name="Shape 12"/>
          <p:cNvSpPr/>
          <p:nvPr/>
        </p:nvSpPr>
        <p:spPr>
          <a:xfrm>
            <a:off x="4471416" y="1965960"/>
            <a:ext cx="164592" cy="36576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17" name="Text 13"/>
          <p:cNvSpPr/>
          <p:nvPr/>
        </p:nvSpPr>
        <p:spPr>
          <a:xfrm>
            <a:off x="4562856" y="187452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B9AAA"/>
                </a:solidFill>
              </a:rPr>
              <a:t>▶</a:t>
            </a:r>
            <a:endParaRPr lang="en-US" sz="1000"/>
          </a:p>
        </p:txBody>
      </p:sp>
      <p:sp>
        <p:nvSpPr>
          <p:cNvPr id="18" name="Shape 14"/>
          <p:cNvSpPr/>
          <p:nvPr/>
        </p:nvSpPr>
        <p:spPr>
          <a:xfrm>
            <a:off x="4654296" y="960120"/>
            <a:ext cx="2011680" cy="2103120"/>
          </a:xfrm>
          <a:prstGeom prst="rect">
            <a:avLst/>
          </a:prstGeom>
          <a:solidFill>
            <a:srgbClr val="162435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54296" y="960120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5816" y="109728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54296" y="17190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Backend</a:t>
            </a:r>
            <a:endParaRPr lang="en-US" sz="1300"/>
          </a:p>
        </p:txBody>
      </p:sp>
      <p:sp>
        <p:nvSpPr>
          <p:cNvPr id="22" name="Text 17"/>
          <p:cNvSpPr/>
          <p:nvPr/>
        </p:nvSpPr>
        <p:spPr>
          <a:xfrm>
            <a:off x="4654296" y="20848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94A3B8"/>
                </a:solidFill>
              </a:rPr>
              <a:t>Spring Boot 4.0.5 / Java 26</a:t>
            </a:r>
            <a:endParaRPr lang="en-US" sz="950"/>
          </a:p>
        </p:txBody>
      </p:sp>
      <p:sp>
        <p:nvSpPr>
          <p:cNvPr id="23" name="Shape 18"/>
          <p:cNvSpPr/>
          <p:nvPr/>
        </p:nvSpPr>
        <p:spPr>
          <a:xfrm>
            <a:off x="6684264" y="1965960"/>
            <a:ext cx="164592" cy="36576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24" name="Text 19"/>
          <p:cNvSpPr/>
          <p:nvPr/>
        </p:nvSpPr>
        <p:spPr>
          <a:xfrm>
            <a:off x="6775704" y="187452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B9AAA"/>
                </a:solidFill>
              </a:rPr>
              <a:t>▶</a:t>
            </a:r>
            <a:endParaRPr lang="en-US" sz="1000"/>
          </a:p>
        </p:txBody>
      </p:sp>
      <p:sp>
        <p:nvSpPr>
          <p:cNvPr id="25" name="Shape 20"/>
          <p:cNvSpPr/>
          <p:nvPr/>
        </p:nvSpPr>
        <p:spPr>
          <a:xfrm>
            <a:off x="6867144" y="960120"/>
            <a:ext cx="2011680" cy="2103120"/>
          </a:xfrm>
          <a:prstGeom prst="rect">
            <a:avLst/>
          </a:prstGeom>
          <a:solidFill>
            <a:srgbClr val="162435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867144" y="960120"/>
            <a:ext cx="2011680" cy="54864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8664" y="1097280"/>
            <a:ext cx="548640" cy="5486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67144" y="17190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Frontend</a:t>
            </a:r>
            <a:endParaRPr lang="en-US" sz="1300"/>
          </a:p>
        </p:txBody>
      </p:sp>
      <p:sp>
        <p:nvSpPr>
          <p:cNvPr id="29" name="Text 23"/>
          <p:cNvSpPr/>
          <p:nvPr/>
        </p:nvSpPr>
        <p:spPr>
          <a:xfrm>
            <a:off x="6867144" y="20848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94A3B8"/>
                </a:solidFill>
              </a:rPr>
              <a:t>Angular SSR + STOMP</a:t>
            </a:r>
            <a:endParaRPr lang="en-US" sz="950"/>
          </a:p>
        </p:txBody>
      </p:sp>
      <p:sp>
        <p:nvSpPr>
          <p:cNvPr id="30" name="Text 24"/>
          <p:cNvSpPr/>
          <p:nvPr/>
        </p:nvSpPr>
        <p:spPr>
          <a:xfrm>
            <a:off x="228600" y="312724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</a:rPr>
              <a:t>Kamera + GPIO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</a:rPr>
              <a:t>MQTT publish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</a:rPr>
              <a:t>HTTP upload</a:t>
            </a:r>
            <a:endParaRPr lang="en-US" sz="900"/>
          </a:p>
        </p:txBody>
      </p:sp>
      <p:sp>
        <p:nvSpPr>
          <p:cNvPr id="31" name="Text 25"/>
          <p:cNvSpPr/>
          <p:nvPr/>
        </p:nvSpPr>
        <p:spPr>
          <a:xfrm>
            <a:off x="2441448" y="312724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</a:rPr>
              <a:t>Event routing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</a:rPr>
              <a:t>QoS poruke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</a:rPr>
              <a:t>Broker medijacija</a:t>
            </a:r>
            <a:endParaRPr lang="en-US" sz="900"/>
          </a:p>
        </p:txBody>
      </p:sp>
      <p:sp>
        <p:nvSpPr>
          <p:cNvPr id="32" name="Text 26"/>
          <p:cNvSpPr/>
          <p:nvPr/>
        </p:nvSpPr>
        <p:spPr>
          <a:xfrm>
            <a:off x="4654296" y="312724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</a:rPr>
              <a:t>MQTT subscriber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</a:rPr>
              <a:t>WebSocket bridge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</a:rPr>
              <a:t>REST API / JPA</a:t>
            </a:r>
            <a:endParaRPr lang="en-US" sz="900"/>
          </a:p>
        </p:txBody>
      </p:sp>
      <p:sp>
        <p:nvSpPr>
          <p:cNvPr id="33" name="Text 27"/>
          <p:cNvSpPr/>
          <p:nvPr/>
        </p:nvSpPr>
        <p:spPr>
          <a:xfrm>
            <a:off x="6867144" y="312724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</a:rPr>
              <a:t>STOMP klijent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</a:rPr>
              <a:t>Real-time prikaz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</a:rPr>
              <a:t>Open / Reject UI</a:t>
            </a:r>
            <a:endParaRPr lang="en-US" sz="900"/>
          </a:p>
        </p:txBody>
      </p:sp>
      <p:sp>
        <p:nvSpPr>
          <p:cNvPr id="34" name="Text 28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1B9AAA"/>
                </a:solidFill>
              </a:rPr>
              <a:t>Svi slojevi komuniciraju asinhrono – nema blokiranja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</a:rPr>
              <a:t>Tok Podataka – Kako Sistem Funkcioniše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743200" cy="54864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" y="1106424"/>
            <a:ext cx="384048" cy="384048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106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1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841248" y="110642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</a:rPr>
              <a:t>Dugme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384048" y="1581912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Posetilac pritiska dugme za stan – GPIO signal na Raspberry Pi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3218688" y="96012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960120"/>
            <a:ext cx="2743200" cy="54864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12" name="Shape 10"/>
          <p:cNvSpPr/>
          <p:nvPr/>
        </p:nvSpPr>
        <p:spPr>
          <a:xfrm>
            <a:off x="3328416" y="1106424"/>
            <a:ext cx="384048" cy="384048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3" name="Text 11"/>
          <p:cNvSpPr/>
          <p:nvPr/>
        </p:nvSpPr>
        <p:spPr>
          <a:xfrm>
            <a:off x="3328416" y="1106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2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3785616" y="110642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</a:rPr>
              <a:t>Kamera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3328416" y="1581912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OpenCV snima fotografiju i čuva je lokalno (images/)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6163056" y="96012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63056" y="960120"/>
            <a:ext cx="2743200" cy="54864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18" name="Shape 16"/>
          <p:cNvSpPr/>
          <p:nvPr/>
        </p:nvSpPr>
        <p:spPr>
          <a:xfrm>
            <a:off x="6272784" y="1106424"/>
            <a:ext cx="384048" cy="384048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9" name="Text 17"/>
          <p:cNvSpPr/>
          <p:nvPr/>
        </p:nvSpPr>
        <p:spPr>
          <a:xfrm>
            <a:off x="6272784" y="1106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3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6729984" y="110642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</a:rPr>
              <a:t>Upload</a:t>
            </a:r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6272784" y="1581912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HTTP POST slike na Spring Boot /api/upload → prima URL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>
          <a:xfrm>
            <a:off x="274320" y="288036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880360"/>
            <a:ext cx="2743200" cy="54864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24" name="Shape 22"/>
          <p:cNvSpPr/>
          <p:nvPr/>
        </p:nvSpPr>
        <p:spPr>
          <a:xfrm>
            <a:off x="384048" y="3026664"/>
            <a:ext cx="384048" cy="384048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4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841248" y="302666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</a:rPr>
              <a:t>MQTT</a:t>
            </a:r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384048" y="3502152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RPi publish JSON na "interfon/pozivi" sa stan + URL + timestamp</a:t>
            </a:r>
            <a:endParaRPr lang="en-US" sz="1100"/>
          </a:p>
        </p:txBody>
      </p:sp>
      <p:sp>
        <p:nvSpPr>
          <p:cNvPr id="28" name="Shape 26"/>
          <p:cNvSpPr/>
          <p:nvPr/>
        </p:nvSpPr>
        <p:spPr>
          <a:xfrm>
            <a:off x="3218688" y="288036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18688" y="2880360"/>
            <a:ext cx="2743200" cy="54864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30" name="Shape 28"/>
          <p:cNvSpPr/>
          <p:nvPr/>
        </p:nvSpPr>
        <p:spPr>
          <a:xfrm>
            <a:off x="3328416" y="3026664"/>
            <a:ext cx="384048" cy="384048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31" name="Text 29"/>
          <p:cNvSpPr/>
          <p:nvPr/>
        </p:nvSpPr>
        <p:spPr>
          <a:xfrm>
            <a:off x="3328416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5</a:t>
            </a:r>
            <a:endParaRPr lang="en-US" sz="1400"/>
          </a:p>
        </p:txBody>
      </p:sp>
      <p:sp>
        <p:nvSpPr>
          <p:cNvPr id="32" name="Text 30"/>
          <p:cNvSpPr/>
          <p:nvPr/>
        </p:nvSpPr>
        <p:spPr>
          <a:xfrm>
            <a:off x="3785616" y="302666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</a:rPr>
              <a:t>WebSocket</a:t>
            </a:r>
            <a:endParaRPr lang="en-US" sz="1400"/>
          </a:p>
        </p:txBody>
      </p:sp>
      <p:sp>
        <p:nvSpPr>
          <p:cNvPr id="33" name="Text 31"/>
          <p:cNvSpPr/>
          <p:nvPr/>
        </p:nvSpPr>
        <p:spPr>
          <a:xfrm>
            <a:off x="3328416" y="3502152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Backend prosleđuje event Angular klijentu via STOMP /topic/intercom</a:t>
            </a:r>
            <a:endParaRPr lang="en-US" sz="1100"/>
          </a:p>
        </p:txBody>
      </p:sp>
      <p:sp>
        <p:nvSpPr>
          <p:cNvPr id="34" name="Shape 32"/>
          <p:cNvSpPr/>
          <p:nvPr/>
        </p:nvSpPr>
        <p:spPr>
          <a:xfrm>
            <a:off x="6163056" y="288036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63056" y="2880360"/>
            <a:ext cx="2743200" cy="54864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36" name="Shape 34"/>
          <p:cNvSpPr/>
          <p:nvPr/>
        </p:nvSpPr>
        <p:spPr>
          <a:xfrm>
            <a:off x="6272784" y="3026664"/>
            <a:ext cx="384048" cy="384048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37" name="Text 35"/>
          <p:cNvSpPr/>
          <p:nvPr/>
        </p:nvSpPr>
        <p:spPr>
          <a:xfrm>
            <a:off x="6272784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6</a:t>
            </a:r>
            <a:endParaRPr lang="en-US" sz="1400"/>
          </a:p>
        </p:txBody>
      </p:sp>
      <p:sp>
        <p:nvSpPr>
          <p:cNvPr id="38" name="Text 36"/>
          <p:cNvSpPr/>
          <p:nvPr/>
        </p:nvSpPr>
        <p:spPr>
          <a:xfrm>
            <a:off x="6729984" y="302666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</a:rPr>
              <a:t>Akcija</a:t>
            </a:r>
            <a:endParaRPr lang="en-US" sz="1400"/>
          </a:p>
        </p:txBody>
      </p:sp>
      <p:sp>
        <p:nvSpPr>
          <p:cNvPr id="39" name="Text 37"/>
          <p:cNvSpPr/>
          <p:nvPr/>
        </p:nvSpPr>
        <p:spPr>
          <a:xfrm>
            <a:off x="6272784" y="3502152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Stanar klika Otvori → POST /api/open → MQTT komanda → relej 1s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778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</a:rPr>
              <a:t>IoT Sloj – Raspberry Pi (Python)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804672"/>
          </a:xfrm>
          <a:prstGeom prst="rect">
            <a:avLst/>
          </a:prstGeom>
          <a:solidFill>
            <a:srgbClr val="162435"/>
          </a:solidFill>
          <a:ln w="12700">
            <a:solidFill>
              <a:srgbClr val="1B9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24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150"/>
          </a:p>
        </p:txBody>
      </p:sp>
      <p:sp>
        <p:nvSpPr>
          <p:cNvPr id="6" name="Text 4"/>
          <p:cNvSpPr/>
          <p:nvPr/>
        </p:nvSpPr>
        <p:spPr>
          <a:xfrm>
            <a:off x="411480" y="13075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</a:rPr>
              <a:t>Entry point; inicijalizuje sve servise i pokreće sistem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4800600" y="960120"/>
            <a:ext cx="4206240" cy="804672"/>
          </a:xfrm>
          <a:prstGeom prst="rect">
            <a:avLst/>
          </a:prstGeom>
          <a:solidFill>
            <a:srgbClr val="162435"/>
          </a:solidFill>
          <a:ln w="12700">
            <a:solidFill>
              <a:srgbClr val="1B9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24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camera_service.py</a:t>
            </a:r>
            <a:endParaRPr lang="en-US" sz="1150"/>
          </a:p>
        </p:txBody>
      </p:sp>
      <p:sp>
        <p:nvSpPr>
          <p:cNvPr id="9" name="Text 7"/>
          <p:cNvSpPr/>
          <p:nvPr/>
        </p:nvSpPr>
        <p:spPr>
          <a:xfrm>
            <a:off x="4937760" y="13075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</a:rPr>
              <a:t>OpenCV – snima JPEG sliku posetioca (cv2.VideoCapture)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74320" y="1947672"/>
            <a:ext cx="4206240" cy="804672"/>
          </a:xfrm>
          <a:prstGeom prst="rect">
            <a:avLst/>
          </a:prstGeom>
          <a:solidFill>
            <a:srgbClr val="162435"/>
          </a:solidFill>
          <a:ln w="12700">
            <a:solidFill>
              <a:srgbClr val="1B9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011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mqtt_client.py</a:t>
            </a:r>
            <a:endParaRPr lang="en-US" sz="1150"/>
          </a:p>
        </p:txBody>
      </p:sp>
      <p:sp>
        <p:nvSpPr>
          <p:cNvPr id="12" name="Text 10"/>
          <p:cNvSpPr/>
          <p:nvPr/>
        </p:nvSpPr>
        <p:spPr>
          <a:xfrm>
            <a:off x="411480" y="229514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</a:rPr>
              <a:t>paho-mqtt MQTTv3.1.1; publish/subscribe; auto-reconnect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4800600" y="1947672"/>
            <a:ext cx="4206240" cy="804672"/>
          </a:xfrm>
          <a:prstGeom prst="rect">
            <a:avLst/>
          </a:prstGeom>
          <a:solidFill>
            <a:srgbClr val="162435"/>
          </a:solidFill>
          <a:ln w="12700">
            <a:solidFill>
              <a:srgbClr val="1B9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2011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intercom_service.py</a:t>
            </a:r>
            <a:endParaRPr lang="en-US" sz="1150"/>
          </a:p>
        </p:txBody>
      </p:sp>
      <p:sp>
        <p:nvSpPr>
          <p:cNvPr id="15" name="Text 13"/>
          <p:cNvSpPr/>
          <p:nvPr/>
        </p:nvSpPr>
        <p:spPr>
          <a:xfrm>
            <a:off x="4937760" y="229514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</a:rPr>
              <a:t>Centralna logika; async thread po pozivu; orkestracija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274320" y="2935224"/>
            <a:ext cx="4206240" cy="804672"/>
          </a:xfrm>
          <a:prstGeom prst="rect">
            <a:avLst/>
          </a:prstGeom>
          <a:solidFill>
            <a:srgbClr val="162435"/>
          </a:solidFill>
          <a:ln w="12700">
            <a:solidFill>
              <a:srgbClr val="1B9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29992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relay_controller.py</a:t>
            </a:r>
            <a:endParaRPr lang="en-US" sz="1150"/>
          </a:p>
        </p:txBody>
      </p:sp>
      <p:sp>
        <p:nvSpPr>
          <p:cNvPr id="18" name="Text 16"/>
          <p:cNvSpPr/>
          <p:nvPr/>
        </p:nvSpPr>
        <p:spPr>
          <a:xfrm>
            <a:off x="411480" y="328269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</a:rPr>
              <a:t>gpiozero OutputDevice; 1s impuls za elektronsku bravu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4800600" y="2935224"/>
            <a:ext cx="4206240" cy="804672"/>
          </a:xfrm>
          <a:prstGeom prst="rect">
            <a:avLst/>
          </a:prstGeom>
          <a:solidFill>
            <a:srgbClr val="162435"/>
          </a:solidFill>
          <a:ln w="12700">
            <a:solidFill>
              <a:srgbClr val="1B9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29992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button_handler.py</a:t>
            </a:r>
            <a:endParaRPr lang="en-US" sz="1150"/>
          </a:p>
        </p:txBody>
      </p:sp>
      <p:sp>
        <p:nvSpPr>
          <p:cNvPr id="21" name="Text 19"/>
          <p:cNvSpPr/>
          <p:nvPr/>
        </p:nvSpPr>
        <p:spPr>
          <a:xfrm>
            <a:off x="4937760" y="328269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</a:rPr>
              <a:t>GPIO pinovi po stanovima ili TEST_MODE konzolni unos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274320" y="3922776"/>
            <a:ext cx="4206240" cy="804672"/>
          </a:xfrm>
          <a:prstGeom prst="rect">
            <a:avLst/>
          </a:prstGeom>
          <a:solidFill>
            <a:srgbClr val="162435"/>
          </a:solidFill>
          <a:ln w="12700">
            <a:solidFill>
              <a:srgbClr val="1B9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39867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upload_service.py</a:t>
            </a:r>
            <a:endParaRPr lang="en-US" sz="1150"/>
          </a:p>
        </p:txBody>
      </p:sp>
      <p:sp>
        <p:nvSpPr>
          <p:cNvPr id="24" name="Text 22"/>
          <p:cNvSpPr/>
          <p:nvPr/>
        </p:nvSpPr>
        <p:spPr>
          <a:xfrm>
            <a:off x="411480" y="42702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</a:rPr>
              <a:t>requests.post na /api/upload; prima image URL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800600" y="3922776"/>
            <a:ext cx="4206240" cy="804672"/>
          </a:xfrm>
          <a:prstGeom prst="rect">
            <a:avLst/>
          </a:prstGeom>
          <a:solidFill>
            <a:srgbClr val="162435"/>
          </a:solidFill>
          <a:ln w="12700">
            <a:solidFill>
              <a:srgbClr val="1B9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37760" y="39867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topics.py</a:t>
            </a:r>
            <a:endParaRPr lang="en-US" sz="1150"/>
          </a:p>
        </p:txBody>
      </p:sp>
      <p:sp>
        <p:nvSpPr>
          <p:cNvPr id="27" name="Text 25"/>
          <p:cNvSpPr/>
          <p:nvPr/>
        </p:nvSpPr>
        <p:spPr>
          <a:xfrm>
            <a:off x="4937760" y="42702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</a:rPr>
              <a:t>Centralizovane MQTT topic konstante – jedno mesto izmene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</a:rPr>
              <a:t>Backend – Spring Boot 4.0.5 / Java 26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49377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54864" cy="4937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1498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MqttConfig</a:t>
            </a:r>
            <a:endParaRPr lang="en-US" sz="1150"/>
          </a:p>
        </p:txBody>
      </p:sp>
      <p:sp>
        <p:nvSpPr>
          <p:cNvPr id="7" name="Text 5"/>
          <p:cNvSpPr/>
          <p:nvPr/>
        </p:nvSpPr>
        <p:spPr>
          <a:xfrm>
            <a:off x="2651760" y="1014984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IntegrationFlow – inbound/outbound MQTT kanali (Paho 1.2.5)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274320" y="1536192"/>
            <a:ext cx="8595360" cy="49377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36192"/>
            <a:ext cx="54864" cy="4937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91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MqttService</a:t>
            </a:r>
            <a:endParaRPr lang="en-US" sz="1150"/>
          </a:p>
        </p:txBody>
      </p:sp>
      <p:sp>
        <p:nvSpPr>
          <p:cNvPr id="11" name="Text 9"/>
          <p:cNvSpPr/>
          <p:nvPr/>
        </p:nvSpPr>
        <p:spPr>
          <a:xfrm>
            <a:off x="2651760" y="1591056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receive() → WebSocket forward; sendOpenCommand() → MQTT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274320" y="2112264"/>
            <a:ext cx="8595360" cy="49377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12264"/>
            <a:ext cx="54864" cy="4937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1671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ImageService</a:t>
            </a:r>
            <a:endParaRPr lang="en-US" sz="1150"/>
          </a:p>
        </p:txBody>
      </p:sp>
      <p:sp>
        <p:nvSpPr>
          <p:cNvPr id="15" name="Text 13"/>
          <p:cNvSpPr/>
          <p:nvPr/>
        </p:nvSpPr>
        <p:spPr>
          <a:xfrm>
            <a:off x="2651760" y="2167128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UUID fajl na disk + JPA zapis u H2 (ImageRecord entitet)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274320" y="2688336"/>
            <a:ext cx="8595360" cy="49377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688336"/>
            <a:ext cx="54864" cy="4937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7432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GateController</a:t>
            </a:r>
            <a:endParaRPr lang="en-US" sz="1150"/>
          </a:p>
        </p:txBody>
      </p:sp>
      <p:sp>
        <p:nvSpPr>
          <p:cNvPr id="19" name="Text 17"/>
          <p:cNvSpPr/>
          <p:nvPr/>
        </p:nvSpPr>
        <p:spPr>
          <a:xfrm>
            <a:off x="2651760" y="274320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POST /api/open → poziva sendOpenCommand()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274320" y="3264408"/>
            <a:ext cx="8595360" cy="49377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264408"/>
            <a:ext cx="54864" cy="4937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3192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UploadController</a:t>
            </a:r>
            <a:endParaRPr lang="en-US" sz="1150"/>
          </a:p>
        </p:txBody>
      </p:sp>
      <p:sp>
        <p:nvSpPr>
          <p:cNvPr id="23" name="Text 21"/>
          <p:cNvSpPr/>
          <p:nvPr/>
        </p:nvSpPr>
        <p:spPr>
          <a:xfrm>
            <a:off x="2651760" y="3319272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POST /api/upload → prima MultipartFile, vraća URL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>
          <a:xfrm>
            <a:off x="274320" y="3840480"/>
            <a:ext cx="8595360" cy="49377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840480"/>
            <a:ext cx="54864" cy="4937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89534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WebSocketConfig</a:t>
            </a:r>
            <a:endParaRPr lang="en-US" sz="1150"/>
          </a:p>
        </p:txBody>
      </p:sp>
      <p:sp>
        <p:nvSpPr>
          <p:cNvPr id="27" name="Text 25"/>
          <p:cNvSpPr/>
          <p:nvPr/>
        </p:nvSpPr>
        <p:spPr>
          <a:xfrm>
            <a:off x="2651760" y="3895344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STOMP endpoint /ws-intercom, broker /topic, prefix /app</a:t>
            </a:r>
            <a:endParaRPr lang="en-US" sz="1100"/>
          </a:p>
        </p:txBody>
      </p:sp>
      <p:sp>
        <p:nvSpPr>
          <p:cNvPr id="28" name="Shape 26"/>
          <p:cNvSpPr/>
          <p:nvPr/>
        </p:nvSpPr>
        <p:spPr>
          <a:xfrm>
            <a:off x="274320" y="4416552"/>
            <a:ext cx="8595360" cy="49377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4416552"/>
            <a:ext cx="54864" cy="4937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47141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WebConfig</a:t>
            </a:r>
            <a:endParaRPr lang="en-US" sz="1150"/>
          </a:p>
        </p:txBody>
      </p:sp>
      <p:sp>
        <p:nvSpPr>
          <p:cNvPr id="31" name="Text 29"/>
          <p:cNvSpPr/>
          <p:nvPr/>
        </p:nvSpPr>
        <p:spPr>
          <a:xfrm>
            <a:off x="2651760" y="4471416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Statički handler /images/** → file:uploads/ direktorijum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778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</a:rPr>
              <a:t>Frontend – Angular (Standalone SSR)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657600"/>
          </a:xfrm>
          <a:prstGeom prst="rect">
            <a:avLst/>
          </a:prstGeom>
          <a:solidFill>
            <a:srgbClr val="162435"/>
          </a:solidFill>
          <a:ln w="12700">
            <a:solidFill>
              <a:srgbClr val="1B9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9AAA"/>
                </a:solidFill>
              </a:rPr>
              <a:t>Login Stranica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>
                <a:solidFill>
                  <a:srgbClr val="94A3B8"/>
                </a:solidFill>
              </a:rPr>
              <a:t>Standalone Angular komponenta</a:t>
            </a:r>
            <a:endParaRPr lang="en-US" sz="11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>
                <a:solidFill>
                  <a:srgbClr val="94A3B8"/>
                </a:solidFill>
              </a:rPr>
              <a:t>FormsModule – ngModel two-way binding</a:t>
            </a:r>
            <a:endParaRPr lang="en-US" sz="11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>
                <a:solidFill>
                  <a:srgbClr val="94A3B8"/>
                </a:solidFill>
              </a:rPr>
              <a:t>Router.navigate(['/dashboard'])</a:t>
            </a:r>
            <a:endParaRPr lang="en-US" sz="11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>
                <a:solidFill>
                  <a:srgbClr val="94A3B8"/>
                </a:solidFill>
              </a:rPr>
              <a:t>localStorage token (loggedIn flag)</a:t>
            </a:r>
            <a:endParaRPr lang="en-US" sz="1150"/>
          </a:p>
        </p:txBody>
      </p:sp>
      <p:sp>
        <p:nvSpPr>
          <p:cNvPr id="7" name="Shape 5"/>
          <p:cNvSpPr/>
          <p:nvPr/>
        </p:nvSpPr>
        <p:spPr>
          <a:xfrm>
            <a:off x="4846320" y="960120"/>
            <a:ext cx="4023360" cy="3657600"/>
          </a:xfrm>
          <a:prstGeom prst="rect">
            <a:avLst/>
          </a:prstGeom>
          <a:solidFill>
            <a:srgbClr val="162435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051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2C55E"/>
                </a:solidFill>
              </a:rPr>
              <a:t>Dashboard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5022314" y="1284016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>
                <a:solidFill>
                  <a:srgbClr val="94A3B8"/>
                </a:solidFill>
              </a:rPr>
              <a:t>STOMP klijent – @stomp/stompjs</a:t>
            </a:r>
            <a:endParaRPr lang="en-US" sz="11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>
                <a:solidFill>
                  <a:srgbClr val="94A3B8"/>
                </a:solidFill>
              </a:rPr>
              <a:t>Subscribe /topic/intercom</a:t>
            </a:r>
            <a:endParaRPr lang="en-US" sz="11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>
                <a:solidFill>
                  <a:srgbClr val="94A3B8"/>
                </a:solidFill>
              </a:rPr>
              <a:t>Real-time prikaz slike + info stana</a:t>
            </a:r>
            <a:endParaRPr lang="en-US" sz="11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>
                <a:solidFill>
                  <a:srgbClr val="94A3B8"/>
                </a:solidFill>
              </a:rPr>
              <a:t>ChangeDetectorRef.detectChanges()</a:t>
            </a:r>
            <a:endParaRPr lang="en-US" sz="11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>
                <a:solidFill>
                  <a:srgbClr val="94A3B8"/>
                </a:solidFill>
              </a:rPr>
              <a:t>Dugme Otvori → POST /api/open</a:t>
            </a:r>
            <a:endParaRPr lang="en-US" sz="11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>
                <a:solidFill>
                  <a:srgbClr val="94A3B8"/>
                </a:solidFill>
              </a:rPr>
              <a:t>isPlatformBrowser – SSR kompatibilnost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>
          <a:xfrm>
            <a:off x="274320" y="3108960"/>
            <a:ext cx="4023360" cy="1280160"/>
          </a:xfrm>
          <a:prstGeom prst="rect">
            <a:avLst/>
          </a:prstGeom>
          <a:solidFill>
            <a:srgbClr val="0E2030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IntercomService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457200" y="3493008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connectWebSocket()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openGate() → HttpClient POST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event$ = Subject&lt;IntercomEvent&gt;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4846320" y="3108960"/>
            <a:ext cx="4023360" cy="1280160"/>
          </a:xfrm>
          <a:prstGeom prst="rect">
            <a:avLst/>
          </a:prstGeom>
          <a:solidFill>
            <a:srgbClr val="0E203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app.routes.ts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5029200" y="349300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→ login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 → LoginComponent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/dashboard → DashboardComponent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</a:rPr>
              <a:t>Tehnologije i Verzije</a:t>
            </a:r>
            <a:endParaRPr lang="en-US" sz="260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25908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Sloj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Tehnologija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Verzija / Detalj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 platforma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 + Python 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gpiozero, paho-mqtt, OpenCV, requests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MQTT komunikacija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Eclipse Paho (broker: Mosquitto)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MQTTv3.1.1 | port 1883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framework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Boot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4.0.5 | Java 26 | Maven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MQTT integracija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Integration MQTT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Eclipse Paho Client 1.2.5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WebSocket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WebSocket + STOMP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@stomp/stompjs (Angular klijent)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Persistencija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Data JPA + H2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In-memory, auto-schema (ddl-auto: update)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framework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Angular (Standalone)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SSR | FormsModule | HttpClient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Serializacija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Jackson Databind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↔ DTO (IntercomEventDto)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Mediji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OpenCV (cv2)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JPEG capture | UUID imenovanje fajlova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778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</a:rPr>
              <a:t>Komunikacioni Protokoli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200400"/>
          </a:xfrm>
          <a:prstGeom prst="rect">
            <a:avLst/>
          </a:prstGeom>
          <a:solidFill>
            <a:srgbClr val="162435"/>
          </a:solidFill>
          <a:ln w="12700">
            <a:solidFill>
              <a:srgbClr val="1B9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B9AAA"/>
                </a:solidFill>
              </a:rPr>
              <a:t>MQTT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94A3B8"/>
                </a:solidFill>
              </a:rPr>
              <a:t>Mosquitto Broker  |  port 1883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657600" cy="868680"/>
          </a:xfrm>
          <a:prstGeom prst="rect">
            <a:avLst/>
          </a:prstGeom>
          <a:solidFill>
            <a:srgbClr val="0E2030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836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interfon/pozivi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594360" y="21396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RPi → Backend</a:t>
            </a:r>
            <a:endParaRPr lang="en-US" sz="950"/>
          </a:p>
        </p:txBody>
      </p:sp>
      <p:sp>
        <p:nvSpPr>
          <p:cNvPr id="10" name="Text 8"/>
          <p:cNvSpPr/>
          <p:nvPr/>
        </p:nvSpPr>
        <p:spPr>
          <a:xfrm>
            <a:off x="594360" y="23408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JSON event: stan + image_url + timestamp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3657600" cy="868680"/>
          </a:xfrm>
          <a:prstGeom prst="rect">
            <a:avLst/>
          </a:prstGeom>
          <a:solidFill>
            <a:srgbClr val="0E2030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9809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interfon/kapija/komande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594360" y="323697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Backend → RPi</a:t>
            </a:r>
            <a:endParaRPr lang="en-US" sz="950"/>
          </a:p>
        </p:txBody>
      </p:sp>
      <p:sp>
        <p:nvSpPr>
          <p:cNvPr id="14" name="Text 12"/>
          <p:cNvSpPr/>
          <p:nvPr/>
        </p:nvSpPr>
        <p:spPr>
          <a:xfrm>
            <a:off x="594360" y="34381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JSON komanda: {"type":"OPEN"}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4846320" y="960120"/>
            <a:ext cx="4023360" cy="3200400"/>
          </a:xfrm>
          <a:prstGeom prst="rect">
            <a:avLst/>
          </a:prstGeom>
          <a:solidFill>
            <a:srgbClr val="162435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0" y="10515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2C55E"/>
                </a:solidFill>
              </a:rPr>
              <a:t>WebSocket / STOMP</a:t>
            </a:r>
            <a:endParaRPr lang="en-US" sz="1800"/>
          </a:p>
        </p:txBody>
      </p:sp>
      <p:sp>
        <p:nvSpPr>
          <p:cNvPr id="17" name="Text 15"/>
          <p:cNvSpPr/>
          <p:nvPr/>
        </p:nvSpPr>
        <p:spPr>
          <a:xfrm>
            <a:off x="5029200" y="14447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94A3B8"/>
                </a:solidFill>
              </a:rPr>
              <a:t>Spring Boot ↔ Angular  |  port 8080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5029200" y="18288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94A3B8"/>
                </a:solidFill>
              </a:rPr>
              <a:t>Endpoint: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6263640" y="1828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ws://host:8080/ws-intercom</a:t>
            </a:r>
            <a:endParaRPr lang="en-US" sz="1050"/>
          </a:p>
        </p:txBody>
      </p:sp>
      <p:sp>
        <p:nvSpPr>
          <p:cNvPr id="20" name="Text 18"/>
          <p:cNvSpPr/>
          <p:nvPr/>
        </p:nvSpPr>
        <p:spPr>
          <a:xfrm>
            <a:off x="5029200" y="24871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94A3B8"/>
                </a:solidFill>
              </a:rPr>
              <a:t>Subscribe:</a:t>
            </a:r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6263640" y="24871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/topic/intercom</a:t>
            </a:r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5029200" y="31455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94A3B8"/>
                </a:solidFill>
              </a:rPr>
              <a:t>Prefix:</a:t>
            </a:r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6263640" y="31455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/app (application destination)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5029200" y="38039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94A3B8"/>
                </a:solidFill>
              </a:rPr>
              <a:t>Reconnect:</a:t>
            </a:r>
            <a:endParaRPr lang="en-US" sz="1050"/>
          </a:p>
        </p:txBody>
      </p:sp>
      <p:sp>
        <p:nvSpPr>
          <p:cNvPr id="25" name="Text 23"/>
          <p:cNvSpPr/>
          <p:nvPr/>
        </p:nvSpPr>
        <p:spPr>
          <a:xfrm>
            <a:off x="6263640" y="38039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5000ms auto-reconnect delay</a:t>
            </a:r>
            <a:endParaRPr lang="en-US" sz="1050"/>
          </a:p>
        </p:txBody>
      </p:sp>
      <p:sp>
        <p:nvSpPr>
          <p:cNvPr id="26" name="Text 24"/>
          <p:cNvSpPr/>
          <p:nvPr/>
        </p:nvSpPr>
        <p:spPr>
          <a:xfrm>
            <a:off x="274320" y="448056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>
                <a:solidFill>
                  <a:srgbClr val="1B9AAA"/>
                </a:solidFill>
              </a:rPr>
              <a:t>Automatski reconnect na oba protokola – sistem je otporan na kratke ispade mreže</a:t>
            </a:r>
            <a:endParaRPr lang="en-US" sz="10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</a:rPr>
              <a:t>Status Projekta i Buduća Proširenja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274320" y="960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</a:rPr>
              <a:t>Implementirano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4754880" y="960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</a:rPr>
              <a:t>Planirano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11480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25880"/>
            <a:ext cx="54864" cy="34747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3624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✅  IoT – kamera + upload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274320" y="1755648"/>
            <a:ext cx="411480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755648"/>
            <a:ext cx="54864" cy="34747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17922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✅  IoT – MQTT publish/subscribe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274320" y="2185416"/>
            <a:ext cx="411480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85416"/>
            <a:ext cx="54864" cy="34747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" y="2221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✅  IoT – relej (GPIO + sim.)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274320" y="2615184"/>
            <a:ext cx="411480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615184"/>
            <a:ext cx="54864" cy="34747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" y="2651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✅  Backend – REST API upload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274320" y="3044952"/>
            <a:ext cx="411480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044952"/>
            <a:ext cx="54864" cy="34747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" y="30815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✅  Backend – MQTT bridge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274320" y="3474720"/>
            <a:ext cx="411480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474720"/>
            <a:ext cx="54864" cy="34747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" y="35112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✅  Backend – WebSocket STOMP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>
          <a:xfrm>
            <a:off x="274320" y="3904488"/>
            <a:ext cx="411480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904488"/>
            <a:ext cx="54864" cy="34747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438912" y="39410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✅  Frontend – Login</a:t>
            </a:r>
            <a:endParaRPr lang="en-US" sz="1100"/>
          </a:p>
        </p:txBody>
      </p:sp>
      <p:sp>
        <p:nvSpPr>
          <p:cNvPr id="27" name="Shape 25"/>
          <p:cNvSpPr/>
          <p:nvPr/>
        </p:nvSpPr>
        <p:spPr>
          <a:xfrm>
            <a:off x="274320" y="4334256"/>
            <a:ext cx="411480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4334256"/>
            <a:ext cx="54864" cy="34747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9" name="Text 27"/>
          <p:cNvSpPr/>
          <p:nvPr/>
        </p:nvSpPr>
        <p:spPr>
          <a:xfrm>
            <a:off x="438912" y="4370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✅  Frontend – Dashboard RT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4754880" y="1325880"/>
            <a:ext cx="41148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1325880"/>
            <a:ext cx="54864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4919472" y="13807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</a:rPr>
              <a:t>🔄  JWT autentikacija</a:t>
            </a:r>
            <a:endParaRPr lang="en-US" sz="1150"/>
          </a:p>
        </p:txBody>
      </p:sp>
      <p:sp>
        <p:nvSpPr>
          <p:cNvPr id="33" name="Shape 31"/>
          <p:cNvSpPr/>
          <p:nvPr/>
        </p:nvSpPr>
        <p:spPr>
          <a:xfrm>
            <a:off x="4754880" y="1920240"/>
            <a:ext cx="41148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1920240"/>
            <a:ext cx="54864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4919472" y="19751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</a:rPr>
              <a:t>🔄  PostgreSQL (prod. baza)</a:t>
            </a:r>
            <a:endParaRPr lang="en-US" sz="1150"/>
          </a:p>
        </p:txBody>
      </p:sp>
      <p:sp>
        <p:nvSpPr>
          <p:cNvPr id="36" name="Text 34"/>
          <p:cNvSpPr/>
          <p:nvPr/>
        </p:nvSpPr>
        <p:spPr>
          <a:xfrm>
            <a:off x="4754880" y="26700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</a:rPr>
              <a:t>Potencijalna proširenja:</a:t>
            </a:r>
            <a:endParaRPr lang="en-US" sz="1200"/>
          </a:p>
        </p:txBody>
      </p:sp>
      <p:sp>
        <p:nvSpPr>
          <p:cNvPr id="37" name="Text 35"/>
          <p:cNvSpPr/>
          <p:nvPr/>
        </p:nvSpPr>
        <p:spPr>
          <a:xfrm>
            <a:off x="4754880" y="2999232"/>
            <a:ext cx="4114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>
                <a:solidFill>
                  <a:srgbClr val="475569"/>
                </a:solidFill>
              </a:rPr>
              <a:t>JWT / OAuth2 sigurnost</a:t>
            </a:r>
            <a:endParaRPr lang="en-US" sz="11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>
                <a:solidFill>
                  <a:srgbClr val="475569"/>
                </a:solidFill>
              </a:rPr>
              <a:t>PostgreSQL produkcijska baza</a:t>
            </a:r>
            <a:endParaRPr lang="en-US" sz="11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>
                <a:solidFill>
                  <a:srgbClr val="475569"/>
                </a:solidFill>
              </a:rPr>
              <a:t>Firebase push notifikacije</a:t>
            </a:r>
            <a:endParaRPr lang="en-US" sz="11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>
                <a:solidFill>
                  <a:srgbClr val="475569"/>
                </a:solidFill>
              </a:rPr>
              <a:t>Istorija posetilaca + pretraga</a:t>
            </a:r>
            <a:endParaRPr lang="en-US" sz="11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>
                <a:solidFill>
                  <a:srgbClr val="475569"/>
                </a:solidFill>
              </a:rPr>
              <a:t>Face recognition (AI/ML)</a:t>
            </a:r>
            <a:endParaRPr lang="en-US" sz="11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>
                <a:solidFill>
                  <a:srgbClr val="475569"/>
                </a:solidFill>
              </a:rPr>
              <a:t>Video stream (RTSP/HLS)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67B38B-42CC-88D6-3C6D-C444076B5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6F2BD89-7916-8CE8-F334-9B423660726D}"/>
              </a:ext>
            </a:extLst>
          </p:cNvPr>
          <p:cNvSpPr/>
          <p:nvPr/>
        </p:nvSpPr>
        <p:spPr>
          <a:xfrm>
            <a:off x="-457200" y="3200400"/>
            <a:ext cx="3657600" cy="3657600"/>
          </a:xfrm>
          <a:prstGeom prst="ellipse">
            <a:avLst/>
          </a:prstGeom>
          <a:solidFill>
            <a:srgbClr val="1B9AAA">
              <a:alpha val="12000"/>
            </a:srgbClr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4B6CFD6-0573-4906-E36E-278EB560BD0A}"/>
              </a:ext>
            </a:extLst>
          </p:cNvPr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1B9AAA">
              <a:alpha val="10000"/>
            </a:srgbClr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2980060-57DF-DE04-B50A-B75CFFF1C1A5}"/>
              </a:ext>
            </a:extLst>
          </p:cNvPr>
          <p:cNvSpPr/>
          <p:nvPr/>
        </p:nvSpPr>
        <p:spPr>
          <a:xfrm>
            <a:off x="457200" y="44817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800" b="1">
                <a:solidFill>
                  <a:srgbClr val="FFFFFF"/>
                </a:solidFill>
              </a:rPr>
              <a:t>Demo Video</a:t>
            </a:r>
            <a:endParaRPr lang="en-US" sz="38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179FD70-E13C-8EF5-568B-29208A11C75C}"/>
              </a:ext>
            </a:extLst>
          </p:cNvPr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i="1">
              <a:solidFill>
                <a:srgbClr val="1B9AAA"/>
              </a:solidFill>
              <a:ea typeface="Calibri"/>
              <a:cs typeface="Calibri"/>
            </a:endParaRPr>
          </a:p>
        </p:txBody>
      </p:sp>
      <p:pic>
        <p:nvPicPr>
          <p:cNvPr id="16" name="WhatsApp Video 2026-04-27 at 20.45.50">
            <a:hlinkClick r:id="" action="ppaction://media"/>
            <a:extLst>
              <a:ext uri="{FF2B5EF4-FFF2-40B4-BE49-F238E27FC236}">
                <a16:creationId xmlns:a16="http://schemas.microsoft.com/office/drawing/2014/main" id="{93B33029-0762-9E40-A7C9-44615768D59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58729" y="687305"/>
            <a:ext cx="7826541" cy="4453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424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657600" cy="3657600"/>
          </a:xfrm>
          <a:prstGeom prst="ellipse">
            <a:avLst/>
          </a:prstGeom>
          <a:solidFill>
            <a:srgbClr val="1B9AAA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1B9AAA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>
                <a:solidFill>
                  <a:srgbClr val="FFFFFF"/>
                </a:solidFill>
              </a:rPr>
              <a:t>Zaključak</a:t>
            </a:r>
            <a:endParaRPr lang="en-US" sz="380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7315200" cy="530352"/>
          </a:xfrm>
          <a:prstGeom prst="rect">
            <a:avLst/>
          </a:prstGeom>
          <a:solidFill>
            <a:srgbClr val="162435"/>
          </a:solidFill>
          <a:ln w="12700">
            <a:solidFill>
              <a:srgbClr val="1B9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1472184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</a:rPr>
              <a:t>🏗️  Kompletna IoT arhitektura – 3 odvojena sloja (RPi, Backend, Frontend)</a:t>
            </a:r>
            <a:endParaRPr lang="en-US" sz="1250"/>
          </a:p>
        </p:txBody>
      </p:sp>
      <p:sp>
        <p:nvSpPr>
          <p:cNvPr id="7" name="Shape 5"/>
          <p:cNvSpPr/>
          <p:nvPr/>
        </p:nvSpPr>
        <p:spPr>
          <a:xfrm>
            <a:off x="914400" y="2084832"/>
            <a:ext cx="7315200" cy="530352"/>
          </a:xfrm>
          <a:prstGeom prst="rect">
            <a:avLst/>
          </a:prstGeom>
          <a:solidFill>
            <a:srgbClr val="162435"/>
          </a:solidFill>
          <a:ln w="12700">
            <a:solidFill>
              <a:srgbClr val="1B9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213969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</a:rPr>
              <a:t>⚡  Real-time komunikacija: MQTT + WebSocket/STOMP bez poolinga</a:t>
            </a:r>
            <a:endParaRPr lang="en-US" sz="1250"/>
          </a:p>
        </p:txBody>
      </p:sp>
      <p:sp>
        <p:nvSpPr>
          <p:cNvPr id="9" name="Shape 7"/>
          <p:cNvSpPr/>
          <p:nvPr/>
        </p:nvSpPr>
        <p:spPr>
          <a:xfrm>
            <a:off x="914400" y="2752344"/>
            <a:ext cx="7315200" cy="530352"/>
          </a:xfrm>
          <a:prstGeom prst="rect">
            <a:avLst/>
          </a:prstGeom>
          <a:solidFill>
            <a:srgbClr val="162435"/>
          </a:solidFill>
          <a:ln w="12700">
            <a:solidFill>
              <a:srgbClr val="1B9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280720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</a:rPr>
              <a:t>🔒  Bezbedno upravljanje pristupom na daljinu uz verifikaciju slike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914400" y="3419856"/>
            <a:ext cx="7315200" cy="530352"/>
          </a:xfrm>
          <a:prstGeom prst="rect">
            <a:avLst/>
          </a:prstGeom>
          <a:solidFill>
            <a:srgbClr val="162435"/>
          </a:solidFill>
          <a:ln w="12700">
            <a:solidFill>
              <a:srgbClr val="1B9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97280" y="347472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</a:rPr>
              <a:t>📦  Modularan i proširiv kod – svaki servis ima jednu odgovornost</a:t>
            </a:r>
            <a:endParaRPr lang="en-US" sz="1250"/>
          </a:p>
        </p:txBody>
      </p:sp>
      <p:sp>
        <p:nvSpPr>
          <p:cNvPr id="13" name="Shape 11"/>
          <p:cNvSpPr/>
          <p:nvPr/>
        </p:nvSpPr>
        <p:spPr>
          <a:xfrm>
            <a:off x="914400" y="4087368"/>
            <a:ext cx="7315200" cy="530352"/>
          </a:xfrm>
          <a:prstGeom prst="rect">
            <a:avLst/>
          </a:prstGeom>
          <a:solidFill>
            <a:srgbClr val="162435"/>
          </a:solidFill>
          <a:ln w="12700">
            <a:solidFill>
              <a:srgbClr val="1B9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97280" y="414223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</a:rPr>
              <a:t>🧪  TEST_MODE omogućava razvoj i demo bez fizičkog hardvera</a:t>
            </a:r>
            <a:endParaRPr lang="en-US" sz="125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1B9AAA"/>
                </a:solidFill>
              </a:rPr>
              <a:t>SmartGate  –  IoT Smart Intercom System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ylanVTI">
  <a:themeElements>
    <a:clrScheme name="DylanVTI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Dylan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Dylan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lanVTI" id="{CD0E21EA-FD0B-4FCD-9D95-B274E3CB7535}" vid="{F2F2D961-94DA-46D9-ABD7-77D6D5FB2C2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Projekcija na ekranu (16:9)</PresentationFormat>
  <Slides>14</Slides>
  <Notes>14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Naslovi slajdova</vt:lpstr>
      </vt:variant>
      <vt:variant>
        <vt:i4>14</vt:i4>
      </vt:variant>
    </vt:vector>
  </HeadingPairs>
  <TitlesOfParts>
    <vt:vector size="15" baseType="lpstr">
      <vt:lpstr>DylanVTI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SmartGate – IoT Smart Intercom System</dc:title>
  <dc:subject>PptxGenJS Presentation</dc:subject>
  <dc:creator>SmartGate Team</dc:creator>
  <cp:revision>142</cp:revision>
  <dcterms:created xsi:type="dcterms:W3CDTF">2026-04-27T19:48:53Z</dcterms:created>
  <dcterms:modified xsi:type="dcterms:W3CDTF">2026-04-30T17:49:09Z</dcterms:modified>
</cp:coreProperties>
</file>